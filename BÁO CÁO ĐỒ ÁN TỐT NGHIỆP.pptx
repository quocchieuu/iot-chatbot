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Noto Sans Bold" charset="1" panose="020B0802040504020204"/>
      <p:regular r:id="rId23"/>
    </p:embeddedFont>
    <p:embeddedFont>
      <p:font typeface="Noto Sans Italics" charset="1" panose="020B0502040504090204"/>
      <p:regular r:id="rId24"/>
    </p:embeddedFont>
    <p:embeddedFont>
      <p:font typeface="Noto Sans" charset="1" panose="020B0502040504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2.png" Type="http://schemas.openxmlformats.org/officeDocument/2006/relationships/image"/><Relationship Id="rId2" Target="../media/image3.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17.png" Type="http://schemas.openxmlformats.org/officeDocument/2006/relationships/image"/><Relationship Id="rId6"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6.png" Type="http://schemas.openxmlformats.org/officeDocument/2006/relationships/image"/><Relationship Id="rId4"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7.pn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3"/>
            <a:stretch>
              <a:fillRect l="0" t="0" r="0" b="0"/>
            </a:stretch>
          </a:blipFill>
        </p:spPr>
      </p:sp>
      <p:grpSp>
        <p:nvGrpSpPr>
          <p:cNvPr name="Group 4" id="4"/>
          <p:cNvGrpSpPr/>
          <p:nvPr/>
        </p:nvGrpSpPr>
        <p:grpSpPr>
          <a:xfrm rot="0">
            <a:off x="411482" y="6172200"/>
            <a:ext cx="10864118" cy="3236912"/>
            <a:chOff x="0" y="0"/>
            <a:chExt cx="2861331" cy="852520"/>
          </a:xfrm>
        </p:grpSpPr>
        <p:sp>
          <p:nvSpPr>
            <p:cNvPr name="Freeform 5" id="5"/>
            <p:cNvSpPr/>
            <p:nvPr/>
          </p:nvSpPr>
          <p:spPr>
            <a:xfrm flipH="false" flipV="false" rot="0">
              <a:off x="0" y="0"/>
              <a:ext cx="2861331" cy="852520"/>
            </a:xfrm>
            <a:custGeom>
              <a:avLst/>
              <a:gdLst/>
              <a:ahLst/>
              <a:cxnLst/>
              <a:rect r="r" b="b" t="t" l="l"/>
              <a:pathLst>
                <a:path h="852520" w="2861331">
                  <a:moveTo>
                    <a:pt x="2861331" y="35631"/>
                  </a:moveTo>
                  <a:lnTo>
                    <a:pt x="2861331" y="816889"/>
                  </a:lnTo>
                  <a:cubicBezTo>
                    <a:pt x="2861331" y="836568"/>
                    <a:pt x="2845379" y="852520"/>
                    <a:pt x="2825701" y="852520"/>
                  </a:cubicBezTo>
                  <a:lnTo>
                    <a:pt x="35631" y="852520"/>
                  </a:lnTo>
                  <a:cubicBezTo>
                    <a:pt x="15952" y="852520"/>
                    <a:pt x="0" y="836568"/>
                    <a:pt x="0" y="816889"/>
                  </a:cubicBezTo>
                  <a:lnTo>
                    <a:pt x="0" y="35631"/>
                  </a:lnTo>
                  <a:cubicBezTo>
                    <a:pt x="0" y="15952"/>
                    <a:pt x="15952" y="0"/>
                    <a:pt x="35631" y="0"/>
                  </a:cubicBezTo>
                  <a:lnTo>
                    <a:pt x="2825701" y="0"/>
                  </a:lnTo>
                  <a:cubicBezTo>
                    <a:pt x="2845379" y="0"/>
                    <a:pt x="2861331" y="15952"/>
                    <a:pt x="2861331" y="35631"/>
                  </a:cubicBezTo>
                  <a:close/>
                </a:path>
              </a:pathLst>
            </a:custGeom>
            <a:solidFill>
              <a:srgbClr val="020C23">
                <a:alpha val="49804"/>
              </a:srgbClr>
            </a:solidFill>
          </p:spPr>
        </p:sp>
        <p:sp>
          <p:nvSpPr>
            <p:cNvPr name="TextBox 6" id="6"/>
            <p:cNvSpPr txBox="true"/>
            <p:nvPr/>
          </p:nvSpPr>
          <p:spPr>
            <a:xfrm>
              <a:off x="0" y="-38100"/>
              <a:ext cx="2861331" cy="89062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5486995" y="2191767"/>
            <a:ext cx="7314009"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FCB524"/>
                </a:solidFill>
                <a:latin typeface="Noto Sans Bold"/>
                <a:ea typeface="Noto Sans Bold"/>
                <a:cs typeface="Noto Sans Bold"/>
                <a:sym typeface="Noto Sans Bold"/>
              </a:rPr>
              <a:t>BÁO CÁO ĐỒ ÁN TỐT NGHIỆP</a:t>
            </a:r>
          </a:p>
        </p:txBody>
      </p:sp>
      <p:sp>
        <p:nvSpPr>
          <p:cNvPr name="TextBox 8" id="8"/>
          <p:cNvSpPr txBox="true"/>
          <p:nvPr/>
        </p:nvSpPr>
        <p:spPr>
          <a:xfrm rot="0">
            <a:off x="2774156" y="3192815"/>
            <a:ext cx="12739688" cy="2095500"/>
          </a:xfrm>
          <a:prstGeom prst="rect">
            <a:avLst/>
          </a:prstGeom>
        </p:spPr>
        <p:txBody>
          <a:bodyPr anchor="t" rtlCol="false" tIns="0" lIns="0" bIns="0" rIns="0">
            <a:spAutoFit/>
          </a:bodyPr>
          <a:lstStyle/>
          <a:p>
            <a:pPr algn="ctr">
              <a:lnSpc>
                <a:spcPts val="8400"/>
              </a:lnSpc>
            </a:pPr>
            <a:r>
              <a:rPr lang="en-US" sz="6000" b="true">
                <a:solidFill>
                  <a:srgbClr val="FFFFFF"/>
                </a:solidFill>
                <a:latin typeface="Noto Sans Bold"/>
                <a:ea typeface="Noto Sans Bold"/>
                <a:cs typeface="Noto Sans Bold"/>
                <a:sym typeface="Noto Sans Bold"/>
              </a:rPr>
              <a:t>XÂY DỰNG CHATBOT ĐIỀU KHIỂN </a:t>
            </a:r>
          </a:p>
          <a:p>
            <a:pPr algn="ctr">
              <a:lnSpc>
                <a:spcPts val="8400"/>
              </a:lnSpc>
              <a:spcBef>
                <a:spcPct val="0"/>
              </a:spcBef>
            </a:pPr>
            <a:r>
              <a:rPr lang="en-US" b="true" sz="6000">
                <a:solidFill>
                  <a:srgbClr val="FFFFFF"/>
                </a:solidFill>
                <a:latin typeface="Noto Sans Bold"/>
                <a:ea typeface="Noto Sans Bold"/>
                <a:cs typeface="Noto Sans Bold"/>
                <a:sym typeface="Noto Sans Bold"/>
              </a:rPr>
              <a:t>VÀ GIÁM SÁT THIẾT BỊ IOT</a:t>
            </a:r>
          </a:p>
        </p:txBody>
      </p:sp>
      <p:sp>
        <p:nvSpPr>
          <p:cNvPr name="TextBox 9" id="9"/>
          <p:cNvSpPr txBox="true"/>
          <p:nvPr/>
        </p:nvSpPr>
        <p:spPr>
          <a:xfrm rot="0">
            <a:off x="1028700" y="6349461"/>
            <a:ext cx="10664361" cy="2908839"/>
          </a:xfrm>
          <a:prstGeom prst="rect">
            <a:avLst/>
          </a:prstGeom>
        </p:spPr>
        <p:txBody>
          <a:bodyPr anchor="t" rtlCol="false" tIns="0" lIns="0" bIns="0" rIns="0">
            <a:spAutoFit/>
          </a:bodyPr>
          <a:lstStyle/>
          <a:p>
            <a:pPr algn="just">
              <a:lnSpc>
                <a:spcPts val="4626"/>
              </a:lnSpc>
            </a:pPr>
            <a:r>
              <a:rPr lang="en-US" sz="3304" i="true">
                <a:solidFill>
                  <a:srgbClr val="FCB524"/>
                </a:solidFill>
                <a:latin typeface="Noto Sans Italics"/>
                <a:ea typeface="Noto Sans Italics"/>
                <a:cs typeface="Noto Sans Italics"/>
                <a:sym typeface="Noto Sans Italics"/>
              </a:rPr>
              <a:t>GIẢNG VIÊN HƯỚNG DẪN:</a:t>
            </a:r>
            <a:r>
              <a:rPr lang="en-US" sz="3304" i="true">
                <a:solidFill>
                  <a:srgbClr val="FFFFFF"/>
                </a:solidFill>
                <a:latin typeface="Noto Sans Italics"/>
                <a:ea typeface="Noto Sans Italics"/>
                <a:cs typeface="Noto Sans Italics"/>
                <a:sym typeface="Noto Sans Italics"/>
              </a:rPr>
              <a:t> ThS. HUỲNH TUYẾT VY</a:t>
            </a:r>
          </a:p>
          <a:p>
            <a:pPr algn="just">
              <a:lnSpc>
                <a:spcPts val="4626"/>
              </a:lnSpc>
            </a:pPr>
            <a:r>
              <a:rPr lang="en-US" sz="3304" i="true">
                <a:solidFill>
                  <a:srgbClr val="FCB524"/>
                </a:solidFill>
                <a:latin typeface="Noto Sans Italics"/>
                <a:ea typeface="Noto Sans Italics"/>
                <a:cs typeface="Noto Sans Italics"/>
                <a:sym typeface="Noto Sans Italics"/>
              </a:rPr>
              <a:t>SINH VIÊN:</a:t>
            </a:r>
            <a:r>
              <a:rPr lang="en-US" sz="3304" i="true">
                <a:solidFill>
                  <a:srgbClr val="FFFFFF"/>
                </a:solidFill>
                <a:latin typeface="Noto Sans Italics"/>
                <a:ea typeface="Noto Sans Italics"/>
                <a:cs typeface="Noto Sans Italics"/>
                <a:sym typeface="Noto Sans Italics"/>
              </a:rPr>
              <a:t> TRẦN QUỐC HIẾU - 21112611</a:t>
            </a:r>
          </a:p>
          <a:p>
            <a:pPr algn="just">
              <a:lnSpc>
                <a:spcPts val="4626"/>
              </a:lnSpc>
            </a:pPr>
            <a:r>
              <a:rPr lang="en-US" sz="3304" i="true">
                <a:solidFill>
                  <a:srgbClr val="FFFFFF"/>
                </a:solidFill>
                <a:latin typeface="Noto Sans Italics"/>
                <a:ea typeface="Noto Sans Italics"/>
                <a:cs typeface="Noto Sans Italics"/>
                <a:sym typeface="Noto Sans Italics"/>
              </a:rPr>
              <a:t>                   BÙI NGUYỄN QUỐC ĐẠT - 21100941</a:t>
            </a:r>
          </a:p>
          <a:p>
            <a:pPr algn="just">
              <a:lnSpc>
                <a:spcPts val="4626"/>
              </a:lnSpc>
            </a:pPr>
            <a:r>
              <a:rPr lang="en-US" sz="3304" i="true">
                <a:solidFill>
                  <a:srgbClr val="FCB524"/>
                </a:solidFill>
                <a:latin typeface="Noto Sans Italics"/>
                <a:ea typeface="Noto Sans Italics"/>
                <a:cs typeface="Noto Sans Italics"/>
                <a:sym typeface="Noto Sans Italics"/>
              </a:rPr>
              <a:t>LỚP: </a:t>
            </a:r>
            <a:r>
              <a:rPr lang="en-US" sz="3304" i="true">
                <a:solidFill>
                  <a:srgbClr val="FFFFFF"/>
                </a:solidFill>
                <a:latin typeface="Noto Sans Italics"/>
                <a:ea typeface="Noto Sans Italics"/>
                <a:cs typeface="Noto Sans Italics"/>
                <a:sym typeface="Noto Sans Italics"/>
              </a:rPr>
              <a:t>DHDTVT17C</a:t>
            </a:r>
          </a:p>
          <a:p>
            <a:pPr algn="just">
              <a:lnSpc>
                <a:spcPts val="4626"/>
              </a:lnSpc>
              <a:spcBef>
                <a:spcPct val="0"/>
              </a:spcBef>
            </a:pPr>
            <a:r>
              <a:rPr lang="en-US" sz="3304" i="true">
                <a:solidFill>
                  <a:srgbClr val="FCB524"/>
                </a:solidFill>
                <a:latin typeface="Noto Sans Italics"/>
                <a:ea typeface="Noto Sans Italics"/>
                <a:cs typeface="Noto Sans Italics"/>
                <a:sym typeface="Noto Sans Italics"/>
              </a:rPr>
              <a:t>CHUYÊN NGÀNH:</a:t>
            </a:r>
            <a:r>
              <a:rPr lang="en-US" sz="3304" i="true">
                <a:solidFill>
                  <a:srgbClr val="FFFFFF"/>
                </a:solidFill>
                <a:latin typeface="Noto Sans Italics"/>
                <a:ea typeface="Noto Sans Italics"/>
                <a:cs typeface="Noto Sans Italics"/>
                <a:sym typeface="Noto Sans Italics"/>
              </a:rPr>
              <a:t> CÔNG NGHỆ ĐIỆN TỬ VIỄN THÔNG</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grpSp>
        <p:nvGrpSpPr>
          <p:cNvPr name="Group 3" id="3"/>
          <p:cNvGrpSpPr/>
          <p:nvPr/>
        </p:nvGrpSpPr>
        <p:grpSpPr>
          <a:xfrm rot="0">
            <a:off x="1290138" y="3188968"/>
            <a:ext cx="3193506" cy="5216060"/>
            <a:chOff x="0" y="0"/>
            <a:chExt cx="381000" cy="622300"/>
          </a:xfrm>
        </p:grpSpPr>
        <p:sp>
          <p:nvSpPr>
            <p:cNvPr name="Freeform 4" id="4"/>
            <p:cNvSpPr/>
            <p:nvPr/>
          </p:nvSpPr>
          <p:spPr>
            <a:xfrm flipH="false" flipV="false" rot="0">
              <a:off x="0" y="0"/>
              <a:ext cx="381000" cy="622300"/>
            </a:xfrm>
            <a:custGeom>
              <a:avLst/>
              <a:gdLst/>
              <a:ahLst/>
              <a:cxnLst/>
              <a:rect r="r" b="b" t="t" l="l"/>
              <a:pathLst>
                <a:path h="622300" w="381000">
                  <a:moveTo>
                    <a:pt x="381000" y="49530"/>
                  </a:moveTo>
                  <a:lnTo>
                    <a:pt x="381000" y="453390"/>
                  </a:lnTo>
                  <a:lnTo>
                    <a:pt x="190500" y="622300"/>
                  </a:lnTo>
                  <a:lnTo>
                    <a:pt x="0" y="453390"/>
                  </a:lnTo>
                  <a:lnTo>
                    <a:pt x="0" y="49530"/>
                  </a:lnTo>
                  <a:cubicBezTo>
                    <a:pt x="0" y="22860"/>
                    <a:pt x="22860" y="0"/>
                    <a:pt x="49530" y="0"/>
                  </a:cubicBezTo>
                  <a:lnTo>
                    <a:pt x="331470" y="0"/>
                  </a:lnTo>
                  <a:cubicBezTo>
                    <a:pt x="358140" y="0"/>
                    <a:pt x="381000" y="22860"/>
                    <a:pt x="381000" y="49530"/>
                  </a:cubicBezTo>
                  <a:close/>
                </a:path>
              </a:pathLst>
            </a:custGeom>
            <a:gradFill rotWithShape="true">
              <a:gsLst>
                <a:gs pos="0">
                  <a:srgbClr val="5DE0E6">
                    <a:alpha val="61000"/>
                  </a:srgbClr>
                </a:gs>
                <a:gs pos="100000">
                  <a:srgbClr val="004AAD">
                    <a:alpha val="61000"/>
                  </a:srgbClr>
                </a:gs>
              </a:gsLst>
              <a:lin ang="0"/>
            </a:gradFill>
          </p:spPr>
        </p:sp>
        <p:sp>
          <p:nvSpPr>
            <p:cNvPr name="TextBox 5" id="5"/>
            <p:cNvSpPr txBox="true"/>
            <p:nvPr/>
          </p:nvSpPr>
          <p:spPr>
            <a:xfrm>
              <a:off x="0" y="-38100"/>
              <a:ext cx="381000" cy="4838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496365" y="3188968"/>
            <a:ext cx="3193506" cy="5216060"/>
            <a:chOff x="0" y="0"/>
            <a:chExt cx="381000" cy="622300"/>
          </a:xfrm>
        </p:grpSpPr>
        <p:sp>
          <p:nvSpPr>
            <p:cNvPr name="Freeform 7" id="7"/>
            <p:cNvSpPr/>
            <p:nvPr/>
          </p:nvSpPr>
          <p:spPr>
            <a:xfrm flipH="false" flipV="false" rot="0">
              <a:off x="0" y="0"/>
              <a:ext cx="381000" cy="622300"/>
            </a:xfrm>
            <a:custGeom>
              <a:avLst/>
              <a:gdLst/>
              <a:ahLst/>
              <a:cxnLst/>
              <a:rect r="r" b="b" t="t" l="l"/>
              <a:pathLst>
                <a:path h="622300" w="381000">
                  <a:moveTo>
                    <a:pt x="381000" y="49530"/>
                  </a:moveTo>
                  <a:lnTo>
                    <a:pt x="381000" y="453390"/>
                  </a:lnTo>
                  <a:lnTo>
                    <a:pt x="190500" y="622300"/>
                  </a:lnTo>
                  <a:lnTo>
                    <a:pt x="0" y="453390"/>
                  </a:lnTo>
                  <a:lnTo>
                    <a:pt x="0" y="49530"/>
                  </a:lnTo>
                  <a:cubicBezTo>
                    <a:pt x="0" y="22860"/>
                    <a:pt x="22860" y="0"/>
                    <a:pt x="49530" y="0"/>
                  </a:cubicBezTo>
                  <a:lnTo>
                    <a:pt x="331470" y="0"/>
                  </a:lnTo>
                  <a:cubicBezTo>
                    <a:pt x="358140" y="0"/>
                    <a:pt x="381000" y="22860"/>
                    <a:pt x="381000" y="49530"/>
                  </a:cubicBezTo>
                  <a:close/>
                </a:path>
              </a:pathLst>
            </a:custGeom>
            <a:gradFill rotWithShape="true">
              <a:gsLst>
                <a:gs pos="0">
                  <a:srgbClr val="5DE0E6">
                    <a:alpha val="61000"/>
                  </a:srgbClr>
                </a:gs>
                <a:gs pos="100000">
                  <a:srgbClr val="004AAD">
                    <a:alpha val="61000"/>
                  </a:srgbClr>
                </a:gs>
              </a:gsLst>
              <a:lin ang="0"/>
            </a:gradFill>
          </p:spPr>
        </p:sp>
        <p:sp>
          <p:nvSpPr>
            <p:cNvPr name="TextBox 8" id="8"/>
            <p:cNvSpPr txBox="true"/>
            <p:nvPr/>
          </p:nvSpPr>
          <p:spPr>
            <a:xfrm>
              <a:off x="0" y="-38100"/>
              <a:ext cx="381000" cy="48387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699521" y="3188968"/>
            <a:ext cx="3193506" cy="5216060"/>
            <a:chOff x="0" y="0"/>
            <a:chExt cx="381000" cy="622300"/>
          </a:xfrm>
        </p:grpSpPr>
        <p:sp>
          <p:nvSpPr>
            <p:cNvPr name="Freeform 10" id="10"/>
            <p:cNvSpPr/>
            <p:nvPr/>
          </p:nvSpPr>
          <p:spPr>
            <a:xfrm flipH="false" flipV="false" rot="0">
              <a:off x="0" y="0"/>
              <a:ext cx="381000" cy="622300"/>
            </a:xfrm>
            <a:custGeom>
              <a:avLst/>
              <a:gdLst/>
              <a:ahLst/>
              <a:cxnLst/>
              <a:rect r="r" b="b" t="t" l="l"/>
              <a:pathLst>
                <a:path h="622300" w="381000">
                  <a:moveTo>
                    <a:pt x="381000" y="49530"/>
                  </a:moveTo>
                  <a:lnTo>
                    <a:pt x="381000" y="453390"/>
                  </a:lnTo>
                  <a:lnTo>
                    <a:pt x="190500" y="622300"/>
                  </a:lnTo>
                  <a:lnTo>
                    <a:pt x="0" y="453390"/>
                  </a:lnTo>
                  <a:lnTo>
                    <a:pt x="0" y="49530"/>
                  </a:lnTo>
                  <a:cubicBezTo>
                    <a:pt x="0" y="22860"/>
                    <a:pt x="22860" y="0"/>
                    <a:pt x="49530" y="0"/>
                  </a:cubicBezTo>
                  <a:lnTo>
                    <a:pt x="331470" y="0"/>
                  </a:lnTo>
                  <a:cubicBezTo>
                    <a:pt x="358140" y="0"/>
                    <a:pt x="381000" y="22860"/>
                    <a:pt x="381000" y="49530"/>
                  </a:cubicBezTo>
                  <a:close/>
                </a:path>
              </a:pathLst>
            </a:custGeom>
            <a:gradFill rotWithShape="true">
              <a:gsLst>
                <a:gs pos="0">
                  <a:srgbClr val="5DE0E6">
                    <a:alpha val="61000"/>
                  </a:srgbClr>
                </a:gs>
                <a:gs pos="100000">
                  <a:srgbClr val="004AAD">
                    <a:alpha val="61000"/>
                  </a:srgbClr>
                </a:gs>
              </a:gsLst>
              <a:lin ang="0"/>
            </a:gradFill>
          </p:spPr>
        </p:sp>
        <p:sp>
          <p:nvSpPr>
            <p:cNvPr name="TextBox 11" id="11"/>
            <p:cNvSpPr txBox="true"/>
            <p:nvPr/>
          </p:nvSpPr>
          <p:spPr>
            <a:xfrm>
              <a:off x="0" y="-38100"/>
              <a:ext cx="381000" cy="48387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902677" y="3188968"/>
            <a:ext cx="3193506" cy="5216060"/>
            <a:chOff x="0" y="0"/>
            <a:chExt cx="381000" cy="622300"/>
          </a:xfrm>
        </p:grpSpPr>
        <p:sp>
          <p:nvSpPr>
            <p:cNvPr name="Freeform 13" id="13"/>
            <p:cNvSpPr/>
            <p:nvPr/>
          </p:nvSpPr>
          <p:spPr>
            <a:xfrm flipH="false" flipV="false" rot="0">
              <a:off x="0" y="0"/>
              <a:ext cx="381000" cy="622300"/>
            </a:xfrm>
            <a:custGeom>
              <a:avLst/>
              <a:gdLst/>
              <a:ahLst/>
              <a:cxnLst/>
              <a:rect r="r" b="b" t="t" l="l"/>
              <a:pathLst>
                <a:path h="622300" w="381000">
                  <a:moveTo>
                    <a:pt x="381000" y="49530"/>
                  </a:moveTo>
                  <a:lnTo>
                    <a:pt x="381000" y="453390"/>
                  </a:lnTo>
                  <a:lnTo>
                    <a:pt x="190500" y="622300"/>
                  </a:lnTo>
                  <a:lnTo>
                    <a:pt x="0" y="453390"/>
                  </a:lnTo>
                  <a:lnTo>
                    <a:pt x="0" y="49530"/>
                  </a:lnTo>
                  <a:cubicBezTo>
                    <a:pt x="0" y="22860"/>
                    <a:pt x="22860" y="0"/>
                    <a:pt x="49530" y="0"/>
                  </a:cubicBezTo>
                  <a:lnTo>
                    <a:pt x="331470" y="0"/>
                  </a:lnTo>
                  <a:cubicBezTo>
                    <a:pt x="358140" y="0"/>
                    <a:pt x="381000" y="22860"/>
                    <a:pt x="381000" y="49530"/>
                  </a:cubicBezTo>
                  <a:close/>
                </a:path>
              </a:pathLst>
            </a:custGeom>
            <a:gradFill rotWithShape="true">
              <a:gsLst>
                <a:gs pos="0">
                  <a:srgbClr val="5DE0E6">
                    <a:alpha val="61000"/>
                  </a:srgbClr>
                </a:gs>
                <a:gs pos="100000">
                  <a:srgbClr val="004AAD">
                    <a:alpha val="61000"/>
                  </a:srgbClr>
                </a:gs>
              </a:gsLst>
              <a:lin ang="0"/>
            </a:gradFill>
          </p:spPr>
        </p:sp>
        <p:sp>
          <p:nvSpPr>
            <p:cNvPr name="TextBox 14" id="14"/>
            <p:cNvSpPr txBox="true"/>
            <p:nvPr/>
          </p:nvSpPr>
          <p:spPr>
            <a:xfrm>
              <a:off x="0" y="-38100"/>
              <a:ext cx="381000" cy="48387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5315024" y="933450"/>
            <a:ext cx="7657951" cy="927100"/>
          </a:xfrm>
          <a:prstGeom prst="rect">
            <a:avLst/>
          </a:prstGeom>
        </p:spPr>
        <p:txBody>
          <a:bodyPr anchor="t" rtlCol="false" tIns="0" lIns="0" bIns="0" rIns="0">
            <a:spAutoFit/>
          </a:bodyPr>
          <a:lstStyle/>
          <a:p>
            <a:pPr algn="ctr">
              <a:lnSpc>
                <a:spcPts val="7699"/>
              </a:lnSpc>
            </a:pPr>
            <a:r>
              <a:rPr lang="en-US" sz="5499" b="true">
                <a:solidFill>
                  <a:srgbClr val="FFFFFF"/>
                </a:solidFill>
                <a:latin typeface="Noto Sans Bold"/>
                <a:ea typeface="Noto Sans Bold"/>
                <a:cs typeface="Noto Sans Bold"/>
                <a:sym typeface="Noto Sans Bold"/>
              </a:rPr>
              <a:t>NỘI DUNG TRÌNH BÀY</a:t>
            </a:r>
          </a:p>
        </p:txBody>
      </p:sp>
      <p:sp>
        <p:nvSpPr>
          <p:cNvPr name="TextBox 16" id="16"/>
          <p:cNvSpPr txBox="true"/>
          <p:nvPr/>
        </p:nvSpPr>
        <p:spPr>
          <a:xfrm rot="0">
            <a:off x="1554263" y="3763144"/>
            <a:ext cx="2659112" cy="2608311"/>
          </a:xfrm>
          <a:prstGeom prst="rect">
            <a:avLst/>
          </a:prstGeom>
        </p:spPr>
        <p:txBody>
          <a:bodyPr anchor="t" rtlCol="false" tIns="0" lIns="0" bIns="0" rIns="0">
            <a:spAutoFit/>
          </a:bodyPr>
          <a:lstStyle/>
          <a:p>
            <a:pPr algn="ctr">
              <a:lnSpc>
                <a:spcPts val="11200"/>
              </a:lnSpc>
            </a:pPr>
            <a:r>
              <a:rPr lang="en-US" sz="8000" b="true">
                <a:solidFill>
                  <a:srgbClr val="FFFFFF"/>
                </a:solidFill>
                <a:latin typeface="Noto Sans Bold"/>
                <a:ea typeface="Noto Sans Bold"/>
                <a:cs typeface="Noto Sans Bold"/>
                <a:sym typeface="Noto Sans Bold"/>
              </a:rPr>
              <a:t>1</a:t>
            </a:r>
          </a:p>
          <a:p>
            <a:pPr algn="ctr">
              <a:lnSpc>
                <a:spcPts val="4719"/>
              </a:lnSpc>
            </a:pPr>
            <a:r>
              <a:rPr lang="en-US" sz="3371" b="true">
                <a:solidFill>
                  <a:srgbClr val="FFFFFF"/>
                </a:solidFill>
                <a:latin typeface="Noto Sans Bold"/>
                <a:ea typeface="Noto Sans Bold"/>
                <a:cs typeface="Noto Sans Bold"/>
                <a:sym typeface="Noto Sans Bold"/>
              </a:rPr>
              <a:t>TỔNG QUAN</a:t>
            </a:r>
          </a:p>
          <a:p>
            <a:pPr algn="ctr">
              <a:lnSpc>
                <a:spcPts val="4719"/>
              </a:lnSpc>
              <a:spcBef>
                <a:spcPct val="0"/>
              </a:spcBef>
            </a:pPr>
            <a:r>
              <a:rPr lang="en-US" b="true" sz="3371">
                <a:solidFill>
                  <a:srgbClr val="FFFFFF"/>
                </a:solidFill>
                <a:latin typeface="Noto Sans Bold"/>
                <a:ea typeface="Noto Sans Bold"/>
                <a:cs typeface="Noto Sans Bold"/>
                <a:sym typeface="Noto Sans Bold"/>
              </a:rPr>
              <a:t> ĐỀ TÀI</a:t>
            </a:r>
          </a:p>
        </p:txBody>
      </p:sp>
      <p:sp>
        <p:nvSpPr>
          <p:cNvPr name="TextBox 17" id="17"/>
          <p:cNvSpPr txBox="true"/>
          <p:nvPr/>
        </p:nvSpPr>
        <p:spPr>
          <a:xfrm rot="0">
            <a:off x="5911200" y="3763144"/>
            <a:ext cx="2363837" cy="2608311"/>
          </a:xfrm>
          <a:prstGeom prst="rect">
            <a:avLst/>
          </a:prstGeom>
        </p:spPr>
        <p:txBody>
          <a:bodyPr anchor="t" rtlCol="false" tIns="0" lIns="0" bIns="0" rIns="0">
            <a:spAutoFit/>
          </a:bodyPr>
          <a:lstStyle/>
          <a:p>
            <a:pPr algn="ctr">
              <a:lnSpc>
                <a:spcPts val="11200"/>
              </a:lnSpc>
            </a:pPr>
            <a:r>
              <a:rPr lang="en-US" sz="8000" b="true">
                <a:solidFill>
                  <a:srgbClr val="FFFFFF"/>
                </a:solidFill>
                <a:latin typeface="Noto Sans Bold"/>
                <a:ea typeface="Noto Sans Bold"/>
                <a:cs typeface="Noto Sans Bold"/>
                <a:sym typeface="Noto Sans Bold"/>
              </a:rPr>
              <a:t>2</a:t>
            </a:r>
          </a:p>
          <a:p>
            <a:pPr algn="ctr">
              <a:lnSpc>
                <a:spcPts val="4719"/>
              </a:lnSpc>
            </a:pPr>
            <a:r>
              <a:rPr lang="en-US" sz="3371" b="true">
                <a:solidFill>
                  <a:srgbClr val="FFFFFF"/>
                </a:solidFill>
                <a:latin typeface="Noto Sans Bold"/>
                <a:ea typeface="Noto Sans Bold"/>
                <a:cs typeface="Noto Sans Bold"/>
                <a:sym typeface="Noto Sans Bold"/>
              </a:rPr>
              <a:t>THIẾT KẾ</a:t>
            </a:r>
          </a:p>
          <a:p>
            <a:pPr algn="ctr">
              <a:lnSpc>
                <a:spcPts val="4719"/>
              </a:lnSpc>
              <a:spcBef>
                <a:spcPct val="0"/>
              </a:spcBef>
            </a:pPr>
            <a:r>
              <a:rPr lang="en-US" b="true" sz="3371">
                <a:solidFill>
                  <a:srgbClr val="FFFFFF"/>
                </a:solidFill>
                <a:latin typeface="Noto Sans Bold"/>
                <a:ea typeface="Noto Sans Bold"/>
                <a:cs typeface="Noto Sans Bold"/>
                <a:sym typeface="Noto Sans Bold"/>
              </a:rPr>
              <a:t> HỆ THỐNG</a:t>
            </a:r>
          </a:p>
        </p:txBody>
      </p:sp>
      <p:sp>
        <p:nvSpPr>
          <p:cNvPr name="TextBox 18" id="18"/>
          <p:cNvSpPr txBox="true"/>
          <p:nvPr/>
        </p:nvSpPr>
        <p:spPr>
          <a:xfrm rot="0">
            <a:off x="10114356" y="3763144"/>
            <a:ext cx="2363837" cy="2608311"/>
          </a:xfrm>
          <a:prstGeom prst="rect">
            <a:avLst/>
          </a:prstGeom>
        </p:spPr>
        <p:txBody>
          <a:bodyPr anchor="t" rtlCol="false" tIns="0" lIns="0" bIns="0" rIns="0">
            <a:spAutoFit/>
          </a:bodyPr>
          <a:lstStyle/>
          <a:p>
            <a:pPr algn="ctr">
              <a:lnSpc>
                <a:spcPts val="11200"/>
              </a:lnSpc>
            </a:pPr>
            <a:r>
              <a:rPr lang="en-US" sz="8000" b="true">
                <a:solidFill>
                  <a:srgbClr val="FFFFFF"/>
                </a:solidFill>
                <a:latin typeface="Noto Sans Bold"/>
                <a:ea typeface="Noto Sans Bold"/>
                <a:cs typeface="Noto Sans Bold"/>
                <a:sym typeface="Noto Sans Bold"/>
              </a:rPr>
              <a:t>3</a:t>
            </a:r>
          </a:p>
          <a:p>
            <a:pPr algn="ctr">
              <a:lnSpc>
                <a:spcPts val="4719"/>
              </a:lnSpc>
            </a:pPr>
            <a:r>
              <a:rPr lang="en-US" sz="3371" b="true">
                <a:solidFill>
                  <a:srgbClr val="FFFFFF"/>
                </a:solidFill>
                <a:latin typeface="Noto Sans Bold"/>
                <a:ea typeface="Noto Sans Bold"/>
                <a:cs typeface="Noto Sans Bold"/>
                <a:sym typeface="Noto Sans Bold"/>
              </a:rPr>
              <a:t>XÂY DỰNG</a:t>
            </a:r>
          </a:p>
          <a:p>
            <a:pPr algn="ctr">
              <a:lnSpc>
                <a:spcPts val="4719"/>
              </a:lnSpc>
              <a:spcBef>
                <a:spcPct val="0"/>
              </a:spcBef>
            </a:pPr>
            <a:r>
              <a:rPr lang="en-US" b="true" sz="3371">
                <a:solidFill>
                  <a:srgbClr val="FFFFFF"/>
                </a:solidFill>
                <a:latin typeface="Noto Sans Bold"/>
                <a:ea typeface="Noto Sans Bold"/>
                <a:cs typeface="Noto Sans Bold"/>
                <a:sym typeface="Noto Sans Bold"/>
              </a:rPr>
              <a:t> HỆ THỐNG</a:t>
            </a:r>
          </a:p>
        </p:txBody>
      </p:sp>
      <p:sp>
        <p:nvSpPr>
          <p:cNvPr name="TextBox 19" id="19"/>
          <p:cNvSpPr txBox="true"/>
          <p:nvPr/>
        </p:nvSpPr>
        <p:spPr>
          <a:xfrm rot="0">
            <a:off x="14240940" y="3763144"/>
            <a:ext cx="2516981" cy="2608311"/>
          </a:xfrm>
          <a:prstGeom prst="rect">
            <a:avLst/>
          </a:prstGeom>
        </p:spPr>
        <p:txBody>
          <a:bodyPr anchor="t" rtlCol="false" tIns="0" lIns="0" bIns="0" rIns="0">
            <a:spAutoFit/>
          </a:bodyPr>
          <a:lstStyle/>
          <a:p>
            <a:pPr algn="ctr">
              <a:lnSpc>
                <a:spcPts val="11200"/>
              </a:lnSpc>
            </a:pPr>
            <a:r>
              <a:rPr lang="en-US" sz="8000" b="true">
                <a:solidFill>
                  <a:srgbClr val="FFFFFF"/>
                </a:solidFill>
                <a:latin typeface="Noto Sans Bold"/>
                <a:ea typeface="Noto Sans Bold"/>
                <a:cs typeface="Noto Sans Bold"/>
                <a:sym typeface="Noto Sans Bold"/>
              </a:rPr>
              <a:t>4</a:t>
            </a:r>
          </a:p>
          <a:p>
            <a:pPr algn="ctr">
              <a:lnSpc>
                <a:spcPts val="4719"/>
              </a:lnSpc>
            </a:pPr>
            <a:r>
              <a:rPr lang="en-US" sz="3371" b="true">
                <a:solidFill>
                  <a:srgbClr val="FFFFFF"/>
                </a:solidFill>
                <a:latin typeface="Noto Sans Bold"/>
                <a:ea typeface="Noto Sans Bold"/>
                <a:cs typeface="Noto Sans Bold"/>
                <a:sym typeface="Noto Sans Bold"/>
              </a:rPr>
              <a:t>KẾT QUẢ VÀ</a:t>
            </a:r>
          </a:p>
          <a:p>
            <a:pPr algn="ctr">
              <a:lnSpc>
                <a:spcPts val="4719"/>
              </a:lnSpc>
              <a:spcBef>
                <a:spcPct val="0"/>
              </a:spcBef>
            </a:pPr>
            <a:r>
              <a:rPr lang="en-US" b="true" sz="3371">
                <a:solidFill>
                  <a:srgbClr val="FFFFFF"/>
                </a:solidFill>
                <a:latin typeface="Noto Sans Bold"/>
                <a:ea typeface="Noto Sans Bold"/>
                <a:cs typeface="Noto Sans Bold"/>
                <a:sym typeface="Noto Sans Bold"/>
              </a:rPr>
              <a:t> ĐÁNH GIÁ</a:t>
            </a:r>
          </a:p>
        </p:txBody>
      </p:sp>
      <p:sp>
        <p:nvSpPr>
          <p:cNvPr name="Freeform 20" id="20"/>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grpSp>
        <p:nvGrpSpPr>
          <p:cNvPr name="Group 3" id="3"/>
          <p:cNvGrpSpPr/>
          <p:nvPr/>
        </p:nvGrpSpPr>
        <p:grpSpPr>
          <a:xfrm rot="0">
            <a:off x="590697" y="2476915"/>
            <a:ext cx="15061054" cy="5977874"/>
            <a:chOff x="0" y="0"/>
            <a:chExt cx="3966697" cy="1574419"/>
          </a:xfrm>
        </p:grpSpPr>
        <p:sp>
          <p:nvSpPr>
            <p:cNvPr name="Freeform 4" id="4"/>
            <p:cNvSpPr/>
            <p:nvPr/>
          </p:nvSpPr>
          <p:spPr>
            <a:xfrm flipH="false" flipV="false" rot="0">
              <a:off x="0" y="0"/>
              <a:ext cx="3966697" cy="1574419"/>
            </a:xfrm>
            <a:custGeom>
              <a:avLst/>
              <a:gdLst/>
              <a:ahLst/>
              <a:cxnLst/>
              <a:rect r="r" b="b" t="t" l="l"/>
              <a:pathLst>
                <a:path h="1574419" w="3966697">
                  <a:moveTo>
                    <a:pt x="3966697" y="25702"/>
                  </a:moveTo>
                  <a:lnTo>
                    <a:pt x="3966697" y="1548718"/>
                  </a:lnTo>
                  <a:cubicBezTo>
                    <a:pt x="3966697" y="1555534"/>
                    <a:pt x="3963989" y="1562072"/>
                    <a:pt x="3959170" y="1566892"/>
                  </a:cubicBezTo>
                  <a:cubicBezTo>
                    <a:pt x="3954349" y="1571712"/>
                    <a:pt x="3947812" y="1574419"/>
                    <a:pt x="3940995" y="1574419"/>
                  </a:cubicBezTo>
                  <a:lnTo>
                    <a:pt x="25702" y="1574419"/>
                  </a:lnTo>
                  <a:cubicBezTo>
                    <a:pt x="11507" y="1574419"/>
                    <a:pt x="0" y="1562912"/>
                    <a:pt x="0" y="1548718"/>
                  </a:cubicBezTo>
                  <a:lnTo>
                    <a:pt x="0" y="25702"/>
                  </a:lnTo>
                  <a:cubicBezTo>
                    <a:pt x="0" y="18885"/>
                    <a:pt x="2708" y="12348"/>
                    <a:pt x="7528" y="7528"/>
                  </a:cubicBezTo>
                  <a:cubicBezTo>
                    <a:pt x="12348" y="2708"/>
                    <a:pt x="18885" y="0"/>
                    <a:pt x="25702" y="0"/>
                  </a:cubicBezTo>
                  <a:lnTo>
                    <a:pt x="3940995" y="0"/>
                  </a:lnTo>
                  <a:cubicBezTo>
                    <a:pt x="3947812" y="0"/>
                    <a:pt x="3954349" y="2708"/>
                    <a:pt x="3959170" y="7528"/>
                  </a:cubicBezTo>
                  <a:cubicBezTo>
                    <a:pt x="3963989" y="12348"/>
                    <a:pt x="3966697" y="18885"/>
                    <a:pt x="3966697" y="25702"/>
                  </a:cubicBezTo>
                  <a:close/>
                </a:path>
              </a:pathLst>
            </a:custGeom>
            <a:solidFill>
              <a:srgbClr val="020C23">
                <a:alpha val="60000"/>
              </a:srgbClr>
            </a:solidFill>
          </p:spPr>
        </p:sp>
        <p:sp>
          <p:nvSpPr>
            <p:cNvPr name="TextBox 5" id="5"/>
            <p:cNvSpPr txBox="true"/>
            <p:nvPr/>
          </p:nvSpPr>
          <p:spPr>
            <a:xfrm>
              <a:off x="0" y="-38100"/>
              <a:ext cx="3966697" cy="161251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85935" y="2780422"/>
            <a:ext cx="11187456" cy="5285135"/>
          </a:xfrm>
          <a:prstGeom prst="rect">
            <a:avLst/>
          </a:prstGeom>
        </p:spPr>
        <p:txBody>
          <a:bodyPr anchor="t" rtlCol="false" tIns="0" lIns="0" bIns="0" rIns="0">
            <a:spAutoFit/>
          </a:bodyPr>
          <a:lstStyle/>
          <a:p>
            <a:pPr algn="just">
              <a:lnSpc>
                <a:spcPts val="6024"/>
              </a:lnSpc>
            </a:pPr>
            <a:r>
              <a:rPr lang="en-US" sz="4303" b="true">
                <a:solidFill>
                  <a:srgbClr val="FFFFFF"/>
                </a:solidFill>
                <a:latin typeface="Noto Sans Bold"/>
                <a:ea typeface="Noto Sans Bold"/>
                <a:cs typeface="Noto Sans Bold"/>
                <a:sym typeface="Noto Sans Bold"/>
              </a:rPr>
              <a:t>1.1 Đặt vấn đề</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IoT và AI đang được ứng dụng rộng rãi trong các hệ thống nhà thông minh.</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Các giải pháp hiện nay còn phụ thuộc nhiều vào thao tác thủ công của người dùng.</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Do đó, đề tài xây dựng chatbot điều khiển và giám sát thiết bị IoT nhằm tăng tính tiện lợi, thông minh và tự động hóa.</a:t>
            </a:r>
          </a:p>
        </p:txBody>
      </p:sp>
      <p:sp>
        <p:nvSpPr>
          <p:cNvPr name="Freeform 7" id="7"/>
          <p:cNvSpPr/>
          <p:nvPr/>
        </p:nvSpPr>
        <p:spPr>
          <a:xfrm flipH="false" flipV="false" rot="0">
            <a:off x="12274923" y="2866147"/>
            <a:ext cx="5390886" cy="5481923"/>
          </a:xfrm>
          <a:custGeom>
            <a:avLst/>
            <a:gdLst/>
            <a:ahLst/>
            <a:cxnLst/>
            <a:rect r="r" b="b" t="t" l="l"/>
            <a:pathLst>
              <a:path h="5481923" w="5390886">
                <a:moveTo>
                  <a:pt x="0" y="0"/>
                </a:moveTo>
                <a:lnTo>
                  <a:pt x="5390886" y="0"/>
                </a:lnTo>
                <a:lnTo>
                  <a:pt x="5390886" y="5481923"/>
                </a:lnTo>
                <a:lnTo>
                  <a:pt x="0" y="5481923"/>
                </a:lnTo>
                <a:lnTo>
                  <a:pt x="0" y="0"/>
                </a:lnTo>
                <a:close/>
              </a:path>
            </a:pathLst>
          </a:custGeom>
          <a:blipFill>
            <a:blip r:embed="rId3"/>
            <a:stretch>
              <a:fillRect l="-844" t="0" r="-844" b="0"/>
            </a:stretch>
          </a:blipFill>
        </p:spPr>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3</a:t>
            </a:r>
          </a:p>
        </p:txBody>
      </p:sp>
      <p:sp>
        <p:nvSpPr>
          <p:cNvPr name="TextBox 9" id="9"/>
          <p:cNvSpPr txBox="true"/>
          <p:nvPr/>
        </p:nvSpPr>
        <p:spPr>
          <a:xfrm rot="0">
            <a:off x="5771852" y="933450"/>
            <a:ext cx="6744295"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TỔNG QUAN ĐỀ TÀI</a:t>
            </a:r>
          </a:p>
        </p:txBody>
      </p:sp>
      <p:sp>
        <p:nvSpPr>
          <p:cNvPr name="Freeform 10" id="10"/>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grpSp>
        <p:nvGrpSpPr>
          <p:cNvPr name="Group 3" id="3"/>
          <p:cNvGrpSpPr/>
          <p:nvPr/>
        </p:nvGrpSpPr>
        <p:grpSpPr>
          <a:xfrm rot="0">
            <a:off x="590697" y="2476915"/>
            <a:ext cx="15061054" cy="5977874"/>
            <a:chOff x="0" y="0"/>
            <a:chExt cx="3966697" cy="1574419"/>
          </a:xfrm>
        </p:grpSpPr>
        <p:sp>
          <p:nvSpPr>
            <p:cNvPr name="Freeform 4" id="4"/>
            <p:cNvSpPr/>
            <p:nvPr/>
          </p:nvSpPr>
          <p:spPr>
            <a:xfrm flipH="false" flipV="false" rot="0">
              <a:off x="0" y="0"/>
              <a:ext cx="3966697" cy="1574419"/>
            </a:xfrm>
            <a:custGeom>
              <a:avLst/>
              <a:gdLst/>
              <a:ahLst/>
              <a:cxnLst/>
              <a:rect r="r" b="b" t="t" l="l"/>
              <a:pathLst>
                <a:path h="1574419" w="3966697">
                  <a:moveTo>
                    <a:pt x="3966697" y="25702"/>
                  </a:moveTo>
                  <a:lnTo>
                    <a:pt x="3966697" y="1548718"/>
                  </a:lnTo>
                  <a:cubicBezTo>
                    <a:pt x="3966697" y="1555534"/>
                    <a:pt x="3963989" y="1562072"/>
                    <a:pt x="3959170" y="1566892"/>
                  </a:cubicBezTo>
                  <a:cubicBezTo>
                    <a:pt x="3954349" y="1571712"/>
                    <a:pt x="3947812" y="1574419"/>
                    <a:pt x="3940995" y="1574419"/>
                  </a:cubicBezTo>
                  <a:lnTo>
                    <a:pt x="25702" y="1574419"/>
                  </a:lnTo>
                  <a:cubicBezTo>
                    <a:pt x="11507" y="1574419"/>
                    <a:pt x="0" y="1562912"/>
                    <a:pt x="0" y="1548718"/>
                  </a:cubicBezTo>
                  <a:lnTo>
                    <a:pt x="0" y="25702"/>
                  </a:lnTo>
                  <a:cubicBezTo>
                    <a:pt x="0" y="18885"/>
                    <a:pt x="2708" y="12348"/>
                    <a:pt x="7528" y="7528"/>
                  </a:cubicBezTo>
                  <a:cubicBezTo>
                    <a:pt x="12348" y="2708"/>
                    <a:pt x="18885" y="0"/>
                    <a:pt x="25702" y="0"/>
                  </a:cubicBezTo>
                  <a:lnTo>
                    <a:pt x="3940995" y="0"/>
                  </a:lnTo>
                  <a:cubicBezTo>
                    <a:pt x="3947812" y="0"/>
                    <a:pt x="3954349" y="2708"/>
                    <a:pt x="3959170" y="7528"/>
                  </a:cubicBezTo>
                  <a:cubicBezTo>
                    <a:pt x="3963989" y="12348"/>
                    <a:pt x="3966697" y="18885"/>
                    <a:pt x="3966697" y="25702"/>
                  </a:cubicBezTo>
                  <a:close/>
                </a:path>
              </a:pathLst>
            </a:custGeom>
            <a:solidFill>
              <a:srgbClr val="020C23">
                <a:alpha val="60000"/>
              </a:srgbClr>
            </a:solidFill>
          </p:spPr>
        </p:sp>
        <p:sp>
          <p:nvSpPr>
            <p:cNvPr name="TextBox 5" id="5"/>
            <p:cNvSpPr txBox="true"/>
            <p:nvPr/>
          </p:nvSpPr>
          <p:spPr>
            <a:xfrm>
              <a:off x="0" y="-38100"/>
              <a:ext cx="3966697" cy="161251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077252" y="2550305"/>
            <a:ext cx="5327304" cy="2983290"/>
          </a:xfrm>
          <a:custGeom>
            <a:avLst/>
            <a:gdLst/>
            <a:ahLst/>
            <a:cxnLst/>
            <a:rect r="r" b="b" t="t" l="l"/>
            <a:pathLst>
              <a:path h="2983290" w="5327304">
                <a:moveTo>
                  <a:pt x="0" y="0"/>
                </a:moveTo>
                <a:lnTo>
                  <a:pt x="5327304" y="0"/>
                </a:lnTo>
                <a:lnTo>
                  <a:pt x="5327304" y="2983291"/>
                </a:lnTo>
                <a:lnTo>
                  <a:pt x="0" y="2983291"/>
                </a:lnTo>
                <a:lnTo>
                  <a:pt x="0" y="0"/>
                </a:lnTo>
                <a:close/>
              </a:path>
            </a:pathLst>
          </a:custGeom>
          <a:blipFill>
            <a:blip r:embed="rId3"/>
            <a:stretch>
              <a:fillRect l="0" t="0" r="0" b="0"/>
            </a:stretch>
          </a:blipFill>
        </p:spPr>
      </p:sp>
      <p:sp>
        <p:nvSpPr>
          <p:cNvPr name="TextBox 7" id="7"/>
          <p:cNvSpPr txBox="true"/>
          <p:nvPr/>
        </p:nvSpPr>
        <p:spPr>
          <a:xfrm rot="0">
            <a:off x="785935" y="2780422"/>
            <a:ext cx="10519852" cy="5285135"/>
          </a:xfrm>
          <a:prstGeom prst="rect">
            <a:avLst/>
          </a:prstGeom>
        </p:spPr>
        <p:txBody>
          <a:bodyPr anchor="t" rtlCol="false" tIns="0" lIns="0" bIns="0" rIns="0">
            <a:spAutoFit/>
          </a:bodyPr>
          <a:lstStyle/>
          <a:p>
            <a:pPr algn="just">
              <a:lnSpc>
                <a:spcPts val="6024"/>
              </a:lnSpc>
            </a:pPr>
            <a:r>
              <a:rPr lang="en-US" sz="4303" b="true">
                <a:solidFill>
                  <a:srgbClr val="FFFFFF"/>
                </a:solidFill>
                <a:latin typeface="Noto Sans Bold"/>
                <a:ea typeface="Noto Sans Bold"/>
                <a:cs typeface="Noto Sans Bold"/>
                <a:sym typeface="Noto Sans Bold"/>
              </a:rPr>
              <a:t>1.2 Mục tiêu đề tài</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Xây</a:t>
            </a:r>
            <a:r>
              <a:rPr lang="en-US" b="true" sz="2896">
                <a:solidFill>
                  <a:srgbClr val="FFFFFF"/>
                </a:solidFill>
                <a:latin typeface="Noto Sans Bold"/>
                <a:ea typeface="Noto Sans Bold"/>
                <a:cs typeface="Noto Sans Bold"/>
                <a:sym typeface="Noto Sans Bold"/>
              </a:rPr>
              <a:t> dựng mô hình nhà thông minh có khả năng điều khiển và</a:t>
            </a:r>
            <a:r>
              <a:rPr lang="en-US" b="true" sz="2896">
                <a:solidFill>
                  <a:srgbClr val="FFFFFF"/>
                </a:solidFill>
                <a:latin typeface="Noto Sans Bold"/>
                <a:ea typeface="Noto Sans Bold"/>
                <a:cs typeface="Noto Sans Bold"/>
                <a:sym typeface="Noto Sans Bold"/>
              </a:rPr>
              <a:t> giám sát thiết bị từ xa.</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Tích hợp AI Chatbot hỗ trợ giao tiếp bằng ngôn ngữ tự nhiên.</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Điều khiển hệ thống bằng giọng nói tiếng Việt.</a:t>
            </a:r>
          </a:p>
          <a:p>
            <a:pPr algn="just" marL="625335" indent="-312667" lvl="1">
              <a:lnSpc>
                <a:spcPts val="5184"/>
              </a:lnSpc>
              <a:buFont typeface="Arial"/>
              <a:buChar char="•"/>
            </a:pPr>
            <a:r>
              <a:rPr lang="en-US" b="true" sz="2896">
                <a:solidFill>
                  <a:srgbClr val="FFFFFF"/>
                </a:solidFill>
                <a:latin typeface="Noto Sans Bold"/>
                <a:ea typeface="Noto Sans Bold"/>
                <a:cs typeface="Noto Sans Bold"/>
                <a:sym typeface="Noto Sans Bold"/>
              </a:rPr>
              <a:t>Giám sát trạng thái thiết bị và hỗ trợ các chức năng an ninh.</a:t>
            </a:r>
          </a:p>
        </p:txBody>
      </p:sp>
      <p:sp>
        <p:nvSpPr>
          <p:cNvPr name="Freeform 8" id="8"/>
          <p:cNvSpPr/>
          <p:nvPr/>
        </p:nvSpPr>
        <p:spPr>
          <a:xfrm flipH="false" flipV="false" rot="0">
            <a:off x="12077252" y="6141817"/>
            <a:ext cx="5327304" cy="3418108"/>
          </a:xfrm>
          <a:custGeom>
            <a:avLst/>
            <a:gdLst/>
            <a:ahLst/>
            <a:cxnLst/>
            <a:rect r="r" b="b" t="t" l="l"/>
            <a:pathLst>
              <a:path h="3418108" w="5327304">
                <a:moveTo>
                  <a:pt x="0" y="0"/>
                </a:moveTo>
                <a:lnTo>
                  <a:pt x="5327304" y="0"/>
                </a:lnTo>
                <a:lnTo>
                  <a:pt x="5327304" y="3418108"/>
                </a:lnTo>
                <a:lnTo>
                  <a:pt x="0" y="3418108"/>
                </a:lnTo>
                <a:lnTo>
                  <a:pt x="0" y="0"/>
                </a:lnTo>
                <a:close/>
              </a:path>
            </a:pathLst>
          </a:custGeom>
          <a:blipFill>
            <a:blip r:embed="rId4"/>
            <a:stretch>
              <a:fillRect l="0" t="-5057" r="0" b="-5057"/>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4</a:t>
            </a:r>
          </a:p>
        </p:txBody>
      </p:sp>
      <p:sp>
        <p:nvSpPr>
          <p:cNvPr name="TextBox 10" id="10"/>
          <p:cNvSpPr txBox="true"/>
          <p:nvPr/>
        </p:nvSpPr>
        <p:spPr>
          <a:xfrm rot="0">
            <a:off x="5771852" y="933450"/>
            <a:ext cx="6744295"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TỔNG QUAN ĐỀ TÀI</a:t>
            </a:r>
          </a:p>
        </p:txBody>
      </p:sp>
      <p:sp>
        <p:nvSpPr>
          <p:cNvPr name="Freeform 11" id="11"/>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3"/>
            <a:stretch>
              <a:fillRect l="0" t="0" r="0" b="0"/>
            </a:stretch>
          </a:blipFill>
        </p:spPr>
      </p:sp>
      <p:sp>
        <p:nvSpPr>
          <p:cNvPr name="Freeform 4" id="4"/>
          <p:cNvSpPr/>
          <p:nvPr/>
        </p:nvSpPr>
        <p:spPr>
          <a:xfrm flipH="false" flipV="false" rot="0">
            <a:off x="2083189" y="2890771"/>
            <a:ext cx="13176418" cy="6736444"/>
          </a:xfrm>
          <a:custGeom>
            <a:avLst/>
            <a:gdLst/>
            <a:ahLst/>
            <a:cxnLst/>
            <a:rect r="r" b="b" t="t" l="l"/>
            <a:pathLst>
              <a:path h="6736444" w="13176418">
                <a:moveTo>
                  <a:pt x="0" y="0"/>
                </a:moveTo>
                <a:lnTo>
                  <a:pt x="13176418" y="0"/>
                </a:lnTo>
                <a:lnTo>
                  <a:pt x="13176418" y="6736444"/>
                </a:lnTo>
                <a:lnTo>
                  <a:pt x="0" y="6736444"/>
                </a:lnTo>
                <a:lnTo>
                  <a:pt x="0" y="0"/>
                </a:lnTo>
                <a:close/>
              </a:path>
            </a:pathLst>
          </a:custGeom>
          <a:blipFill>
            <a:blip r:embed="rId4"/>
            <a:stretch>
              <a:fillRect l="0" t="0" r="0" b="0"/>
            </a:stretch>
          </a:blipFill>
        </p:spPr>
      </p:sp>
      <p:sp>
        <p:nvSpPr>
          <p:cNvPr name="TextBox 5" id="5"/>
          <p:cNvSpPr txBox="true"/>
          <p:nvPr/>
        </p:nvSpPr>
        <p:spPr>
          <a:xfrm rot="0">
            <a:off x="785935" y="1812795"/>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2.1. Kiến trúc tổng thể hệ thống</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5</a:t>
            </a:r>
          </a:p>
        </p:txBody>
      </p:sp>
      <p:sp>
        <p:nvSpPr>
          <p:cNvPr name="TextBox 7" id="7"/>
          <p:cNvSpPr txBox="true"/>
          <p:nvPr/>
        </p:nvSpPr>
        <p:spPr>
          <a:xfrm rot="0">
            <a:off x="5694090" y="933450"/>
            <a:ext cx="689982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THIẾT KẾ HỆ THỐNG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grpSp>
        <p:nvGrpSpPr>
          <p:cNvPr name="Group 3" id="3"/>
          <p:cNvGrpSpPr/>
          <p:nvPr/>
        </p:nvGrpSpPr>
        <p:grpSpPr>
          <a:xfrm rot="0">
            <a:off x="1391261" y="2893367"/>
            <a:ext cx="14060057" cy="7040168"/>
            <a:chOff x="0" y="0"/>
            <a:chExt cx="3570134" cy="1787642"/>
          </a:xfrm>
        </p:grpSpPr>
        <p:sp>
          <p:nvSpPr>
            <p:cNvPr name="Freeform 4" id="4"/>
            <p:cNvSpPr/>
            <p:nvPr/>
          </p:nvSpPr>
          <p:spPr>
            <a:xfrm flipH="false" flipV="false" rot="0">
              <a:off x="0" y="0"/>
              <a:ext cx="3570134" cy="1787642"/>
            </a:xfrm>
            <a:custGeom>
              <a:avLst/>
              <a:gdLst/>
              <a:ahLst/>
              <a:cxnLst/>
              <a:rect r="r" b="b" t="t" l="l"/>
              <a:pathLst>
                <a:path h="1787642" w="3570134">
                  <a:moveTo>
                    <a:pt x="0" y="0"/>
                  </a:moveTo>
                  <a:lnTo>
                    <a:pt x="3570134" y="0"/>
                  </a:lnTo>
                  <a:lnTo>
                    <a:pt x="3570134" y="1787642"/>
                  </a:lnTo>
                  <a:lnTo>
                    <a:pt x="0" y="1787642"/>
                  </a:lnTo>
                  <a:close/>
                </a:path>
              </a:pathLst>
            </a:custGeom>
            <a:solidFill>
              <a:srgbClr val="FFFFFF"/>
            </a:solidFill>
          </p:spPr>
        </p:sp>
        <p:sp>
          <p:nvSpPr>
            <p:cNvPr name="TextBox 5" id="5"/>
            <p:cNvSpPr txBox="true"/>
            <p:nvPr/>
          </p:nvSpPr>
          <p:spPr>
            <a:xfrm>
              <a:off x="0" y="-47625"/>
              <a:ext cx="3570134" cy="1835267"/>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585455" y="3051643"/>
            <a:ext cx="13565706" cy="6740082"/>
          </a:xfrm>
          <a:custGeom>
            <a:avLst/>
            <a:gdLst/>
            <a:ahLst/>
            <a:cxnLst/>
            <a:rect r="r" b="b" t="t" l="l"/>
            <a:pathLst>
              <a:path h="6740082" w="13565706">
                <a:moveTo>
                  <a:pt x="0" y="0"/>
                </a:moveTo>
                <a:lnTo>
                  <a:pt x="13565706" y="0"/>
                </a:lnTo>
                <a:lnTo>
                  <a:pt x="13565706" y="6740081"/>
                </a:lnTo>
                <a:lnTo>
                  <a:pt x="0" y="6740081"/>
                </a:lnTo>
                <a:lnTo>
                  <a:pt x="0" y="0"/>
                </a:lnTo>
                <a:close/>
              </a:path>
            </a:pathLst>
          </a:custGeom>
          <a:blipFill>
            <a:blip r:embed="rId3"/>
            <a:stretch>
              <a:fillRect l="0" t="-820" r="0" b="-820"/>
            </a:stretch>
          </a:blipFill>
        </p:spPr>
      </p:sp>
      <p:sp>
        <p:nvSpPr>
          <p:cNvPr name="TextBox 7" id="7"/>
          <p:cNvSpPr txBox="true"/>
          <p:nvPr/>
        </p:nvSpPr>
        <p:spPr>
          <a:xfrm rot="0">
            <a:off x="1028700" y="1815391"/>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2.2. Thiết kế phần cứng</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6</a:t>
            </a:r>
          </a:p>
        </p:txBody>
      </p:sp>
      <p:sp>
        <p:nvSpPr>
          <p:cNvPr name="Freeform 9" id="9"/>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4"/>
            <a:stretch>
              <a:fillRect l="0" t="0" r="0" b="0"/>
            </a:stretch>
          </a:blipFill>
        </p:spPr>
      </p:sp>
      <p:sp>
        <p:nvSpPr>
          <p:cNvPr name="TextBox 10" id="10"/>
          <p:cNvSpPr txBox="true"/>
          <p:nvPr/>
        </p:nvSpPr>
        <p:spPr>
          <a:xfrm rot="0">
            <a:off x="5694090" y="933450"/>
            <a:ext cx="689982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THIẾT KẾ HỆ THỐNG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9697466" y="3510352"/>
            <a:ext cx="6042179" cy="5274972"/>
          </a:xfrm>
          <a:custGeom>
            <a:avLst/>
            <a:gdLst/>
            <a:ahLst/>
            <a:cxnLst/>
            <a:rect r="r" b="b" t="t" l="l"/>
            <a:pathLst>
              <a:path h="5274972" w="6042179">
                <a:moveTo>
                  <a:pt x="0" y="0"/>
                </a:moveTo>
                <a:lnTo>
                  <a:pt x="6042180" y="0"/>
                </a:lnTo>
                <a:lnTo>
                  <a:pt x="6042180" y="5274972"/>
                </a:lnTo>
                <a:lnTo>
                  <a:pt x="0" y="5274972"/>
                </a:lnTo>
                <a:lnTo>
                  <a:pt x="0" y="0"/>
                </a:lnTo>
                <a:close/>
              </a:path>
            </a:pathLst>
          </a:custGeom>
          <a:blipFill>
            <a:blip r:embed="rId3"/>
            <a:stretch>
              <a:fillRect l="0" t="0" r="0" b="-6328"/>
            </a:stretch>
          </a:blipFill>
        </p:spPr>
      </p:sp>
      <p:sp>
        <p:nvSpPr>
          <p:cNvPr name="Freeform 4" id="4"/>
          <p:cNvSpPr/>
          <p:nvPr/>
        </p:nvSpPr>
        <p:spPr>
          <a:xfrm flipH="false" flipV="false" rot="0">
            <a:off x="2248611" y="3589148"/>
            <a:ext cx="5986179" cy="5451183"/>
          </a:xfrm>
          <a:custGeom>
            <a:avLst/>
            <a:gdLst/>
            <a:ahLst/>
            <a:cxnLst/>
            <a:rect r="r" b="b" t="t" l="l"/>
            <a:pathLst>
              <a:path h="5451183" w="5986179">
                <a:moveTo>
                  <a:pt x="0" y="0"/>
                </a:moveTo>
                <a:lnTo>
                  <a:pt x="5986179" y="0"/>
                </a:lnTo>
                <a:lnTo>
                  <a:pt x="5986179" y="5451183"/>
                </a:lnTo>
                <a:lnTo>
                  <a:pt x="0" y="5451183"/>
                </a:lnTo>
                <a:lnTo>
                  <a:pt x="0" y="0"/>
                </a:lnTo>
                <a:close/>
              </a:path>
            </a:pathLst>
          </a:custGeom>
          <a:blipFill>
            <a:blip r:embed="rId4"/>
            <a:stretch>
              <a:fillRect l="0" t="0" r="0" b="0"/>
            </a:stretch>
          </a:blipFill>
        </p:spPr>
      </p:sp>
      <p:sp>
        <p:nvSpPr>
          <p:cNvPr name="TextBox 5" id="5"/>
          <p:cNvSpPr txBox="true"/>
          <p:nvPr/>
        </p:nvSpPr>
        <p:spPr>
          <a:xfrm rot="0">
            <a:off x="785935" y="2280442"/>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2.2. Thiết kế phần cứng</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7</a:t>
            </a:r>
          </a:p>
        </p:txBody>
      </p:sp>
      <p:sp>
        <p:nvSpPr>
          <p:cNvPr name="TextBox 7" id="7"/>
          <p:cNvSpPr txBox="true"/>
          <p:nvPr/>
        </p:nvSpPr>
        <p:spPr>
          <a:xfrm rot="0">
            <a:off x="4104664" y="8964131"/>
            <a:ext cx="2274073" cy="630984"/>
          </a:xfrm>
          <a:prstGeom prst="rect">
            <a:avLst/>
          </a:prstGeom>
        </p:spPr>
        <p:txBody>
          <a:bodyPr anchor="t" rtlCol="false" tIns="0" lIns="0" bIns="0" rIns="0">
            <a:spAutoFit/>
          </a:bodyPr>
          <a:lstStyle/>
          <a:p>
            <a:pPr algn="ctr">
              <a:lnSpc>
                <a:spcPts val="5100"/>
              </a:lnSpc>
            </a:pPr>
            <a:r>
              <a:rPr lang="en-US" sz="3643" b="true">
                <a:solidFill>
                  <a:srgbClr val="FFFFFF"/>
                </a:solidFill>
                <a:latin typeface="Noto Sans Bold"/>
                <a:ea typeface="Noto Sans Bold"/>
                <a:cs typeface="Noto Sans Bold"/>
                <a:sym typeface="Noto Sans Bold"/>
              </a:rPr>
              <a:t>Mạch PCB</a:t>
            </a:r>
          </a:p>
        </p:txBody>
      </p:sp>
      <p:sp>
        <p:nvSpPr>
          <p:cNvPr name="TextBox 8" id="8"/>
          <p:cNvSpPr txBox="true"/>
          <p:nvPr/>
        </p:nvSpPr>
        <p:spPr>
          <a:xfrm rot="0">
            <a:off x="9727791" y="8904708"/>
            <a:ext cx="6038509" cy="630984"/>
          </a:xfrm>
          <a:prstGeom prst="rect">
            <a:avLst/>
          </a:prstGeom>
        </p:spPr>
        <p:txBody>
          <a:bodyPr anchor="t" rtlCol="false" tIns="0" lIns="0" bIns="0" rIns="0">
            <a:spAutoFit/>
          </a:bodyPr>
          <a:lstStyle/>
          <a:p>
            <a:pPr algn="ctr">
              <a:lnSpc>
                <a:spcPts val="5100"/>
              </a:lnSpc>
            </a:pPr>
            <a:r>
              <a:rPr lang="en-US" sz="3643" b="true">
                <a:solidFill>
                  <a:srgbClr val="FFFFFF"/>
                </a:solidFill>
                <a:latin typeface="Noto Sans Bold"/>
                <a:ea typeface="Noto Sans Bold"/>
                <a:cs typeface="Noto Sans Bold"/>
                <a:sym typeface="Noto Sans Bold"/>
              </a:rPr>
              <a:t>Mạch gia công hoàn chỉnh</a:t>
            </a:r>
          </a:p>
        </p:txBody>
      </p:sp>
      <p:sp>
        <p:nvSpPr>
          <p:cNvPr name="Freeform 9" id="9"/>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5"/>
            <a:stretch>
              <a:fillRect l="0" t="0" r="0" b="0"/>
            </a:stretch>
          </a:blipFill>
        </p:spPr>
      </p:sp>
      <p:sp>
        <p:nvSpPr>
          <p:cNvPr name="TextBox 10" id="10"/>
          <p:cNvSpPr txBox="true"/>
          <p:nvPr/>
        </p:nvSpPr>
        <p:spPr>
          <a:xfrm rot="0">
            <a:off x="5694090" y="933450"/>
            <a:ext cx="689982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THIẾT KẾ HỆ THỐNG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8599614" y="3930226"/>
            <a:ext cx="5473036" cy="4189361"/>
          </a:xfrm>
          <a:custGeom>
            <a:avLst/>
            <a:gdLst/>
            <a:ahLst/>
            <a:cxnLst/>
            <a:rect r="r" b="b" t="t" l="l"/>
            <a:pathLst>
              <a:path h="4189361" w="5473036">
                <a:moveTo>
                  <a:pt x="0" y="0"/>
                </a:moveTo>
                <a:lnTo>
                  <a:pt x="5473036" y="0"/>
                </a:lnTo>
                <a:lnTo>
                  <a:pt x="5473036" y="4189361"/>
                </a:lnTo>
                <a:lnTo>
                  <a:pt x="0" y="41893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155296" y="3895877"/>
            <a:ext cx="2104004" cy="4223710"/>
          </a:xfrm>
          <a:custGeom>
            <a:avLst/>
            <a:gdLst/>
            <a:ahLst/>
            <a:cxnLst/>
            <a:rect r="r" b="b" t="t" l="l"/>
            <a:pathLst>
              <a:path h="4223710" w="2104004">
                <a:moveTo>
                  <a:pt x="0" y="0"/>
                </a:moveTo>
                <a:lnTo>
                  <a:pt x="2104004" y="0"/>
                </a:lnTo>
                <a:lnTo>
                  <a:pt x="2104004" y="4223710"/>
                </a:lnTo>
                <a:lnTo>
                  <a:pt x="0" y="42237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85935" y="4110893"/>
            <a:ext cx="3338524" cy="3338524"/>
          </a:xfrm>
          <a:custGeom>
            <a:avLst/>
            <a:gdLst/>
            <a:ahLst/>
            <a:cxnLst/>
            <a:rect r="r" b="b" t="t" l="l"/>
            <a:pathLst>
              <a:path h="3338524" w="3338524">
                <a:moveTo>
                  <a:pt x="0" y="0"/>
                </a:moveTo>
                <a:lnTo>
                  <a:pt x="3338524" y="0"/>
                </a:lnTo>
                <a:lnTo>
                  <a:pt x="3338524" y="3338524"/>
                </a:lnTo>
                <a:lnTo>
                  <a:pt x="0" y="3338524"/>
                </a:lnTo>
                <a:lnTo>
                  <a:pt x="0" y="0"/>
                </a:lnTo>
                <a:close/>
              </a:path>
            </a:pathLst>
          </a:custGeom>
          <a:blipFill>
            <a:blip r:embed="rId7"/>
            <a:stretch>
              <a:fillRect l="0" t="0" r="0" b="0"/>
            </a:stretch>
          </a:blipFill>
        </p:spPr>
      </p:sp>
      <p:sp>
        <p:nvSpPr>
          <p:cNvPr name="Freeform 6" id="6"/>
          <p:cNvSpPr/>
          <p:nvPr/>
        </p:nvSpPr>
        <p:spPr>
          <a:xfrm flipH="false" flipV="false" rot="0">
            <a:off x="15342653" y="4110893"/>
            <a:ext cx="1729290" cy="3793678"/>
          </a:xfrm>
          <a:custGeom>
            <a:avLst/>
            <a:gdLst/>
            <a:ahLst/>
            <a:cxnLst/>
            <a:rect r="r" b="b" t="t" l="l"/>
            <a:pathLst>
              <a:path h="3793678" w="1729290">
                <a:moveTo>
                  <a:pt x="0" y="0"/>
                </a:moveTo>
                <a:lnTo>
                  <a:pt x="1729290" y="0"/>
                </a:lnTo>
                <a:lnTo>
                  <a:pt x="1729290" y="3793678"/>
                </a:lnTo>
                <a:lnTo>
                  <a:pt x="0" y="3793678"/>
                </a:lnTo>
                <a:lnTo>
                  <a:pt x="0" y="0"/>
                </a:lnTo>
                <a:close/>
              </a:path>
            </a:pathLst>
          </a:custGeom>
          <a:blipFill>
            <a:blip r:embed="rId8"/>
            <a:stretch>
              <a:fillRect l="-858" t="0" r="-858" b="0"/>
            </a:stretch>
          </a:blipFill>
        </p:spPr>
      </p:sp>
      <p:sp>
        <p:nvSpPr>
          <p:cNvPr name="Freeform 7" id="7"/>
          <p:cNvSpPr/>
          <p:nvPr/>
        </p:nvSpPr>
        <p:spPr>
          <a:xfrm flipH="false" flipV="false" rot="0">
            <a:off x="8610253" y="4110893"/>
            <a:ext cx="5462397" cy="2817681"/>
          </a:xfrm>
          <a:custGeom>
            <a:avLst/>
            <a:gdLst/>
            <a:ahLst/>
            <a:cxnLst/>
            <a:rect r="r" b="b" t="t" l="l"/>
            <a:pathLst>
              <a:path h="2817681" w="5462397">
                <a:moveTo>
                  <a:pt x="0" y="0"/>
                </a:moveTo>
                <a:lnTo>
                  <a:pt x="5462397" y="0"/>
                </a:lnTo>
                <a:lnTo>
                  <a:pt x="5462397" y="2817681"/>
                </a:lnTo>
                <a:lnTo>
                  <a:pt x="0" y="2817681"/>
                </a:lnTo>
                <a:lnTo>
                  <a:pt x="0" y="0"/>
                </a:lnTo>
                <a:close/>
              </a:path>
            </a:pathLst>
          </a:custGeom>
          <a:blipFill>
            <a:blip r:embed="rId9"/>
            <a:stretch>
              <a:fillRect l="0" t="-6540" r="-4697" b="-7630"/>
            </a:stretch>
          </a:blipFill>
        </p:spPr>
      </p:sp>
      <p:sp>
        <p:nvSpPr>
          <p:cNvPr name="Freeform 8" id="8"/>
          <p:cNvSpPr/>
          <p:nvPr/>
        </p:nvSpPr>
        <p:spPr>
          <a:xfrm flipH="false" flipV="false" rot="0">
            <a:off x="4614590" y="4263356"/>
            <a:ext cx="3186061" cy="3186061"/>
          </a:xfrm>
          <a:custGeom>
            <a:avLst/>
            <a:gdLst/>
            <a:ahLst/>
            <a:cxnLst/>
            <a:rect r="r" b="b" t="t" l="l"/>
            <a:pathLst>
              <a:path h="3186061" w="3186061">
                <a:moveTo>
                  <a:pt x="0" y="0"/>
                </a:moveTo>
                <a:lnTo>
                  <a:pt x="3186061" y="0"/>
                </a:lnTo>
                <a:lnTo>
                  <a:pt x="3186061" y="3186061"/>
                </a:lnTo>
                <a:lnTo>
                  <a:pt x="0" y="3186061"/>
                </a:lnTo>
                <a:lnTo>
                  <a:pt x="0" y="0"/>
                </a:lnTo>
                <a:close/>
              </a:path>
            </a:pathLst>
          </a:custGeom>
          <a:blipFill>
            <a:blip r:embed="rId10"/>
            <a:stretch>
              <a:fillRect l="0" t="0" r="0" b="0"/>
            </a:stretch>
          </a:blipFill>
        </p:spPr>
      </p:sp>
      <p:sp>
        <p:nvSpPr>
          <p:cNvPr name="TextBox 9" id="9"/>
          <p:cNvSpPr txBox="true"/>
          <p:nvPr/>
        </p:nvSpPr>
        <p:spPr>
          <a:xfrm rot="0">
            <a:off x="785935" y="2280442"/>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2.3. Thiết kế phần mềm</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8</a:t>
            </a:r>
          </a:p>
        </p:txBody>
      </p:sp>
      <p:sp>
        <p:nvSpPr>
          <p:cNvPr name="TextBox 11" id="11"/>
          <p:cNvSpPr txBox="true"/>
          <p:nvPr/>
        </p:nvSpPr>
        <p:spPr>
          <a:xfrm rot="0">
            <a:off x="987406" y="7998116"/>
            <a:ext cx="2935581" cy="606298"/>
          </a:xfrm>
          <a:prstGeom prst="rect">
            <a:avLst/>
          </a:prstGeom>
        </p:spPr>
        <p:txBody>
          <a:bodyPr anchor="t" rtlCol="false" tIns="0" lIns="0" bIns="0" rIns="0">
            <a:spAutoFit/>
          </a:bodyPr>
          <a:lstStyle/>
          <a:p>
            <a:pPr algn="ctr">
              <a:lnSpc>
                <a:spcPts val="4961"/>
              </a:lnSpc>
            </a:pPr>
            <a:r>
              <a:rPr lang="en-US" sz="3543" b="true">
                <a:solidFill>
                  <a:srgbClr val="FFFFFF"/>
                </a:solidFill>
                <a:latin typeface="Noto Sans Bold"/>
                <a:ea typeface="Noto Sans Bold"/>
                <a:cs typeface="Noto Sans Bold"/>
                <a:sym typeface="Noto Sans Bold"/>
              </a:rPr>
              <a:t>Cơ sở dữ liệu</a:t>
            </a:r>
          </a:p>
        </p:txBody>
      </p:sp>
      <p:sp>
        <p:nvSpPr>
          <p:cNvPr name="TextBox 12" id="12"/>
          <p:cNvSpPr txBox="true"/>
          <p:nvPr/>
        </p:nvSpPr>
        <p:spPr>
          <a:xfrm rot="0">
            <a:off x="5248211" y="7963767"/>
            <a:ext cx="1918818" cy="606298"/>
          </a:xfrm>
          <a:prstGeom prst="rect">
            <a:avLst/>
          </a:prstGeom>
        </p:spPr>
        <p:txBody>
          <a:bodyPr anchor="t" rtlCol="false" tIns="0" lIns="0" bIns="0" rIns="0">
            <a:spAutoFit/>
          </a:bodyPr>
          <a:lstStyle/>
          <a:p>
            <a:pPr algn="ctr">
              <a:lnSpc>
                <a:spcPts val="4961"/>
              </a:lnSpc>
            </a:pPr>
            <a:r>
              <a:rPr lang="en-US" sz="3543" b="true">
                <a:solidFill>
                  <a:srgbClr val="FFFFFF"/>
                </a:solidFill>
                <a:latin typeface="Noto Sans Bold"/>
                <a:ea typeface="Noto Sans Bold"/>
                <a:cs typeface="Noto Sans Bold"/>
                <a:sym typeface="Noto Sans Bold"/>
              </a:rPr>
              <a:t>ChatGPT</a:t>
            </a:r>
          </a:p>
        </p:txBody>
      </p:sp>
      <p:sp>
        <p:nvSpPr>
          <p:cNvPr name="TextBox 13" id="13"/>
          <p:cNvSpPr txBox="true"/>
          <p:nvPr/>
        </p:nvSpPr>
        <p:spPr>
          <a:xfrm rot="0">
            <a:off x="9974206" y="8233579"/>
            <a:ext cx="2723852" cy="605316"/>
          </a:xfrm>
          <a:prstGeom prst="rect">
            <a:avLst/>
          </a:prstGeom>
        </p:spPr>
        <p:txBody>
          <a:bodyPr anchor="t" rtlCol="false" tIns="0" lIns="0" bIns="0" rIns="0">
            <a:spAutoFit/>
          </a:bodyPr>
          <a:lstStyle/>
          <a:p>
            <a:pPr algn="ctr">
              <a:lnSpc>
                <a:spcPts val="4961"/>
              </a:lnSpc>
            </a:pPr>
            <a:r>
              <a:rPr lang="en-US" sz="3543" b="true">
                <a:solidFill>
                  <a:srgbClr val="FFFFFF"/>
                </a:solidFill>
                <a:latin typeface="Noto Sans Bold"/>
                <a:ea typeface="Noto Sans Bold"/>
                <a:cs typeface="Noto Sans Bold"/>
                <a:sym typeface="Noto Sans Bold"/>
              </a:rPr>
              <a:t>Web control</a:t>
            </a:r>
          </a:p>
        </p:txBody>
      </p:sp>
      <p:sp>
        <p:nvSpPr>
          <p:cNvPr name="TextBox 14" id="14"/>
          <p:cNvSpPr txBox="true"/>
          <p:nvPr/>
        </p:nvSpPr>
        <p:spPr>
          <a:xfrm rot="0">
            <a:off x="14898280" y="8234070"/>
            <a:ext cx="2618036" cy="605316"/>
          </a:xfrm>
          <a:prstGeom prst="rect">
            <a:avLst/>
          </a:prstGeom>
        </p:spPr>
        <p:txBody>
          <a:bodyPr anchor="t" rtlCol="false" tIns="0" lIns="0" bIns="0" rIns="0">
            <a:spAutoFit/>
          </a:bodyPr>
          <a:lstStyle/>
          <a:p>
            <a:pPr algn="ctr">
              <a:lnSpc>
                <a:spcPts val="4961"/>
              </a:lnSpc>
            </a:pPr>
            <a:r>
              <a:rPr lang="en-US" sz="3543" b="true">
                <a:solidFill>
                  <a:srgbClr val="FFFFFF"/>
                </a:solidFill>
                <a:latin typeface="Noto Sans Bold"/>
                <a:ea typeface="Noto Sans Bold"/>
                <a:cs typeface="Noto Sans Bold"/>
                <a:sym typeface="Noto Sans Bold"/>
              </a:rPr>
              <a:t>App control</a:t>
            </a:r>
          </a:p>
        </p:txBody>
      </p:sp>
      <p:sp>
        <p:nvSpPr>
          <p:cNvPr name="Freeform 15" id="15"/>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11"/>
            <a:stretch>
              <a:fillRect l="0" t="0" r="0" b="0"/>
            </a:stretch>
          </a:blipFill>
        </p:spPr>
      </p:sp>
      <p:sp>
        <p:nvSpPr>
          <p:cNvPr name="TextBox 16" id="16"/>
          <p:cNvSpPr txBox="true"/>
          <p:nvPr/>
        </p:nvSpPr>
        <p:spPr>
          <a:xfrm rot="0">
            <a:off x="5694090" y="933450"/>
            <a:ext cx="689982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THIẾT KẾ HỆ THỐNG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1347525" y="2953385"/>
            <a:ext cx="7235506" cy="6121480"/>
          </a:xfrm>
          <a:custGeom>
            <a:avLst/>
            <a:gdLst/>
            <a:ahLst/>
            <a:cxnLst/>
            <a:rect r="r" b="b" t="t" l="l"/>
            <a:pathLst>
              <a:path h="6121480" w="7235506">
                <a:moveTo>
                  <a:pt x="0" y="0"/>
                </a:moveTo>
                <a:lnTo>
                  <a:pt x="7235506" y="0"/>
                </a:lnTo>
                <a:lnTo>
                  <a:pt x="7235506" y="6121481"/>
                </a:lnTo>
                <a:lnTo>
                  <a:pt x="0" y="6121481"/>
                </a:lnTo>
                <a:lnTo>
                  <a:pt x="0" y="0"/>
                </a:lnTo>
                <a:close/>
              </a:path>
            </a:pathLst>
          </a:custGeom>
          <a:blipFill>
            <a:blip r:embed="rId3"/>
            <a:stretch>
              <a:fillRect l="0" t="0" r="-419" b="0"/>
            </a:stretch>
          </a:blipFill>
        </p:spPr>
      </p:sp>
      <p:sp>
        <p:nvSpPr>
          <p:cNvPr name="Freeform 4" id="4"/>
          <p:cNvSpPr/>
          <p:nvPr/>
        </p:nvSpPr>
        <p:spPr>
          <a:xfrm flipH="false" flipV="false" rot="0">
            <a:off x="11371930" y="2591435"/>
            <a:ext cx="3901583" cy="6356958"/>
          </a:xfrm>
          <a:custGeom>
            <a:avLst/>
            <a:gdLst/>
            <a:ahLst/>
            <a:cxnLst/>
            <a:rect r="r" b="b" t="t" l="l"/>
            <a:pathLst>
              <a:path h="6356958" w="3901583">
                <a:moveTo>
                  <a:pt x="0" y="0"/>
                </a:moveTo>
                <a:lnTo>
                  <a:pt x="3901583" y="0"/>
                </a:lnTo>
                <a:lnTo>
                  <a:pt x="3901583" y="6356958"/>
                </a:lnTo>
                <a:lnTo>
                  <a:pt x="0" y="6356958"/>
                </a:lnTo>
                <a:lnTo>
                  <a:pt x="0" y="0"/>
                </a:lnTo>
                <a:close/>
              </a:path>
            </a:pathLst>
          </a:custGeom>
          <a:blipFill>
            <a:blip r:embed="rId4"/>
            <a:stretch>
              <a:fillRect l="0" t="0" r="0" b="0"/>
            </a:stretch>
          </a:blipFill>
        </p:spPr>
      </p:sp>
      <p:sp>
        <p:nvSpPr>
          <p:cNvPr name="TextBox 5" id="5"/>
          <p:cNvSpPr txBox="true"/>
          <p:nvPr/>
        </p:nvSpPr>
        <p:spPr>
          <a:xfrm rot="0">
            <a:off x="984944" y="1703959"/>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3.1. Lưu đồ giải thuật </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9</a:t>
            </a:r>
          </a:p>
        </p:txBody>
      </p:sp>
      <p:sp>
        <p:nvSpPr>
          <p:cNvPr name="TextBox 7" id="7"/>
          <p:cNvSpPr txBox="true"/>
          <p:nvPr/>
        </p:nvSpPr>
        <p:spPr>
          <a:xfrm rot="0">
            <a:off x="5338911" y="933450"/>
            <a:ext cx="7610177"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XÂY DỰNG HỆ THỐNG</a:t>
            </a:r>
          </a:p>
        </p:txBody>
      </p:sp>
      <p:sp>
        <p:nvSpPr>
          <p:cNvPr name="TextBox 8" id="8"/>
          <p:cNvSpPr txBox="true"/>
          <p:nvPr/>
        </p:nvSpPr>
        <p:spPr>
          <a:xfrm rot="0">
            <a:off x="2312525" y="9201150"/>
            <a:ext cx="5305507" cy="529485"/>
          </a:xfrm>
          <a:prstGeom prst="rect">
            <a:avLst/>
          </a:prstGeom>
        </p:spPr>
        <p:txBody>
          <a:bodyPr anchor="t" rtlCol="false" tIns="0" lIns="0" bIns="0" rIns="0">
            <a:spAutoFit/>
          </a:bodyPr>
          <a:lstStyle/>
          <a:p>
            <a:pPr algn="ctr">
              <a:lnSpc>
                <a:spcPts val="4342"/>
              </a:lnSpc>
            </a:pPr>
            <a:r>
              <a:rPr lang="en-US" sz="3101" b="true">
                <a:solidFill>
                  <a:srgbClr val="FFFFFF"/>
                </a:solidFill>
                <a:latin typeface="Noto Sans Bold"/>
                <a:ea typeface="Noto Sans Bold"/>
                <a:cs typeface="Noto Sans Bold"/>
                <a:sym typeface="Noto Sans Bold"/>
              </a:rPr>
              <a:t>Lưu đồ tổng quát hệ thống</a:t>
            </a:r>
          </a:p>
        </p:txBody>
      </p:sp>
      <p:sp>
        <p:nvSpPr>
          <p:cNvPr name="TextBox 9" id="9"/>
          <p:cNvSpPr txBox="true"/>
          <p:nvPr/>
        </p:nvSpPr>
        <p:spPr>
          <a:xfrm rot="0">
            <a:off x="10563304" y="9201150"/>
            <a:ext cx="5518835" cy="529485"/>
          </a:xfrm>
          <a:prstGeom prst="rect">
            <a:avLst/>
          </a:prstGeom>
        </p:spPr>
        <p:txBody>
          <a:bodyPr anchor="t" rtlCol="false" tIns="0" lIns="0" bIns="0" rIns="0">
            <a:spAutoFit/>
          </a:bodyPr>
          <a:lstStyle/>
          <a:p>
            <a:pPr algn="ctr">
              <a:lnSpc>
                <a:spcPts val="4342"/>
              </a:lnSpc>
            </a:pPr>
            <a:r>
              <a:rPr lang="en-US" sz="3101" b="true">
                <a:solidFill>
                  <a:srgbClr val="FFFFFF"/>
                </a:solidFill>
                <a:latin typeface="Noto Sans Bold"/>
                <a:ea typeface="Noto Sans Bold"/>
                <a:cs typeface="Noto Sans Bold"/>
                <a:sym typeface="Noto Sans Bold"/>
              </a:rPr>
              <a:t>Lưu đồ điều khiển giọng nói</a:t>
            </a:r>
          </a:p>
        </p:txBody>
      </p:sp>
      <p:sp>
        <p:nvSpPr>
          <p:cNvPr name="Freeform 10" id="10"/>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1356122" y="2953385"/>
            <a:ext cx="5721262" cy="6356958"/>
          </a:xfrm>
          <a:custGeom>
            <a:avLst/>
            <a:gdLst/>
            <a:ahLst/>
            <a:cxnLst/>
            <a:rect r="r" b="b" t="t" l="l"/>
            <a:pathLst>
              <a:path h="6356958" w="5721262">
                <a:moveTo>
                  <a:pt x="0" y="0"/>
                </a:moveTo>
                <a:lnTo>
                  <a:pt x="5721263" y="0"/>
                </a:lnTo>
                <a:lnTo>
                  <a:pt x="5721263" y="6356958"/>
                </a:lnTo>
                <a:lnTo>
                  <a:pt x="0" y="6356958"/>
                </a:lnTo>
                <a:lnTo>
                  <a:pt x="0" y="0"/>
                </a:lnTo>
                <a:close/>
              </a:path>
            </a:pathLst>
          </a:custGeom>
          <a:blipFill>
            <a:blip r:embed="rId3"/>
            <a:stretch>
              <a:fillRect l="0" t="0" r="0" b="0"/>
            </a:stretch>
          </a:blipFill>
        </p:spPr>
      </p:sp>
      <p:sp>
        <p:nvSpPr>
          <p:cNvPr name="Freeform 4" id="4"/>
          <p:cNvSpPr/>
          <p:nvPr/>
        </p:nvSpPr>
        <p:spPr>
          <a:xfrm flipH="false" flipV="false" rot="0">
            <a:off x="14085642" y="3243971"/>
            <a:ext cx="2667486" cy="5775786"/>
          </a:xfrm>
          <a:custGeom>
            <a:avLst/>
            <a:gdLst/>
            <a:ahLst/>
            <a:cxnLst/>
            <a:rect r="r" b="b" t="t" l="l"/>
            <a:pathLst>
              <a:path h="5775786" w="2667486">
                <a:moveTo>
                  <a:pt x="0" y="0"/>
                </a:moveTo>
                <a:lnTo>
                  <a:pt x="2667486" y="0"/>
                </a:lnTo>
                <a:lnTo>
                  <a:pt x="2667486" y="5775786"/>
                </a:lnTo>
                <a:lnTo>
                  <a:pt x="0" y="5775786"/>
                </a:lnTo>
                <a:lnTo>
                  <a:pt x="0" y="0"/>
                </a:lnTo>
                <a:close/>
              </a:path>
            </a:pathLst>
          </a:custGeom>
          <a:blipFill>
            <a:blip r:embed="rId4"/>
            <a:stretch>
              <a:fillRect l="0" t="0" r="0" b="0"/>
            </a:stretch>
          </a:blipFill>
        </p:spPr>
      </p:sp>
      <p:sp>
        <p:nvSpPr>
          <p:cNvPr name="TextBox 5" id="5"/>
          <p:cNvSpPr txBox="true"/>
          <p:nvPr/>
        </p:nvSpPr>
        <p:spPr>
          <a:xfrm rot="0">
            <a:off x="984944" y="1703959"/>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3.1. Lưu đồ giải thuật </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10</a:t>
            </a:r>
          </a:p>
        </p:txBody>
      </p:sp>
      <p:sp>
        <p:nvSpPr>
          <p:cNvPr name="TextBox 7" id="7"/>
          <p:cNvSpPr txBox="true"/>
          <p:nvPr/>
        </p:nvSpPr>
        <p:spPr>
          <a:xfrm rot="0">
            <a:off x="935911" y="9351962"/>
            <a:ext cx="6561684" cy="529485"/>
          </a:xfrm>
          <a:prstGeom prst="rect">
            <a:avLst/>
          </a:prstGeom>
        </p:spPr>
        <p:txBody>
          <a:bodyPr anchor="t" rtlCol="false" tIns="0" lIns="0" bIns="0" rIns="0">
            <a:spAutoFit/>
          </a:bodyPr>
          <a:lstStyle/>
          <a:p>
            <a:pPr algn="ctr">
              <a:lnSpc>
                <a:spcPts val="4342"/>
              </a:lnSpc>
            </a:pPr>
            <a:r>
              <a:rPr lang="en-US" sz="3101" b="true">
                <a:solidFill>
                  <a:srgbClr val="FFFFFF"/>
                </a:solidFill>
                <a:latin typeface="Noto Sans Bold"/>
                <a:ea typeface="Noto Sans Bold"/>
                <a:cs typeface="Noto Sans Bold"/>
                <a:sym typeface="Noto Sans Bold"/>
              </a:rPr>
              <a:t>Lưu đồ điều khiển bằng Web/App</a:t>
            </a:r>
          </a:p>
        </p:txBody>
      </p:sp>
      <p:sp>
        <p:nvSpPr>
          <p:cNvPr name="Freeform 8" id="8"/>
          <p:cNvSpPr/>
          <p:nvPr/>
        </p:nvSpPr>
        <p:spPr>
          <a:xfrm flipH="false" flipV="false" rot="0">
            <a:off x="7439218" y="3781719"/>
            <a:ext cx="6284590" cy="3423868"/>
          </a:xfrm>
          <a:custGeom>
            <a:avLst/>
            <a:gdLst/>
            <a:ahLst/>
            <a:cxnLst/>
            <a:rect r="r" b="b" t="t" l="l"/>
            <a:pathLst>
              <a:path h="3423868" w="6284590">
                <a:moveTo>
                  <a:pt x="0" y="0"/>
                </a:moveTo>
                <a:lnTo>
                  <a:pt x="6284590" y="0"/>
                </a:lnTo>
                <a:lnTo>
                  <a:pt x="6284590" y="3423868"/>
                </a:lnTo>
                <a:lnTo>
                  <a:pt x="0" y="3423868"/>
                </a:lnTo>
                <a:lnTo>
                  <a:pt x="0" y="0"/>
                </a:lnTo>
                <a:close/>
              </a:path>
            </a:pathLst>
          </a:custGeom>
          <a:blipFill>
            <a:blip r:embed="rId5"/>
            <a:stretch>
              <a:fillRect l="0" t="-6192" r="-4697" b="-1906"/>
            </a:stretch>
          </a:blipFill>
        </p:spPr>
      </p:sp>
      <p:sp>
        <p:nvSpPr>
          <p:cNvPr name="Freeform 9" id="9"/>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6"/>
            <a:stretch>
              <a:fillRect l="0" t="0" r="0" b="0"/>
            </a:stretch>
          </a:blipFill>
        </p:spPr>
      </p:sp>
      <p:sp>
        <p:nvSpPr>
          <p:cNvPr name="TextBox 10" id="10"/>
          <p:cNvSpPr txBox="true"/>
          <p:nvPr/>
        </p:nvSpPr>
        <p:spPr>
          <a:xfrm rot="0">
            <a:off x="5338911" y="933450"/>
            <a:ext cx="7610177"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XÂY DỰNG HỆ THỐNG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1028700" y="3052154"/>
            <a:ext cx="4577010" cy="6356958"/>
          </a:xfrm>
          <a:custGeom>
            <a:avLst/>
            <a:gdLst/>
            <a:ahLst/>
            <a:cxnLst/>
            <a:rect r="r" b="b" t="t" l="l"/>
            <a:pathLst>
              <a:path h="6356958" w="4577010">
                <a:moveTo>
                  <a:pt x="0" y="0"/>
                </a:moveTo>
                <a:lnTo>
                  <a:pt x="4577010" y="0"/>
                </a:lnTo>
                <a:lnTo>
                  <a:pt x="4577010" y="6356958"/>
                </a:lnTo>
                <a:lnTo>
                  <a:pt x="0" y="6356958"/>
                </a:lnTo>
                <a:lnTo>
                  <a:pt x="0" y="0"/>
                </a:lnTo>
                <a:close/>
              </a:path>
            </a:pathLst>
          </a:custGeom>
          <a:blipFill>
            <a:blip r:embed="rId3"/>
            <a:stretch>
              <a:fillRect l="0" t="0" r="0" b="0"/>
            </a:stretch>
          </a:blipFill>
        </p:spPr>
      </p:sp>
      <p:sp>
        <p:nvSpPr>
          <p:cNvPr name="Freeform 4" id="4"/>
          <p:cNvSpPr/>
          <p:nvPr/>
        </p:nvSpPr>
        <p:spPr>
          <a:xfrm flipH="false" flipV="false" rot="0">
            <a:off x="6783979" y="3052154"/>
            <a:ext cx="4720041" cy="6356958"/>
          </a:xfrm>
          <a:custGeom>
            <a:avLst/>
            <a:gdLst/>
            <a:ahLst/>
            <a:cxnLst/>
            <a:rect r="r" b="b" t="t" l="l"/>
            <a:pathLst>
              <a:path h="6356958" w="4720041">
                <a:moveTo>
                  <a:pt x="0" y="0"/>
                </a:moveTo>
                <a:lnTo>
                  <a:pt x="4720042" y="0"/>
                </a:lnTo>
                <a:lnTo>
                  <a:pt x="4720042" y="6356958"/>
                </a:lnTo>
                <a:lnTo>
                  <a:pt x="0" y="6356958"/>
                </a:lnTo>
                <a:lnTo>
                  <a:pt x="0" y="0"/>
                </a:lnTo>
                <a:close/>
              </a:path>
            </a:pathLst>
          </a:custGeom>
          <a:blipFill>
            <a:blip r:embed="rId4"/>
            <a:stretch>
              <a:fillRect l="0" t="0" r="0" b="0"/>
            </a:stretch>
          </a:blipFill>
        </p:spPr>
      </p:sp>
      <p:sp>
        <p:nvSpPr>
          <p:cNvPr name="Freeform 5" id="5"/>
          <p:cNvSpPr/>
          <p:nvPr/>
        </p:nvSpPr>
        <p:spPr>
          <a:xfrm flipH="false" flipV="false" rot="0">
            <a:off x="12925752" y="3052154"/>
            <a:ext cx="3663197" cy="6356958"/>
          </a:xfrm>
          <a:custGeom>
            <a:avLst/>
            <a:gdLst/>
            <a:ahLst/>
            <a:cxnLst/>
            <a:rect r="r" b="b" t="t" l="l"/>
            <a:pathLst>
              <a:path h="6356958" w="3663197">
                <a:moveTo>
                  <a:pt x="0" y="0"/>
                </a:moveTo>
                <a:lnTo>
                  <a:pt x="3663197" y="0"/>
                </a:lnTo>
                <a:lnTo>
                  <a:pt x="3663197" y="6356958"/>
                </a:lnTo>
                <a:lnTo>
                  <a:pt x="0" y="6356958"/>
                </a:lnTo>
                <a:lnTo>
                  <a:pt x="0" y="0"/>
                </a:lnTo>
                <a:close/>
              </a:path>
            </a:pathLst>
          </a:custGeom>
          <a:blipFill>
            <a:blip r:embed="rId5"/>
            <a:stretch>
              <a:fillRect l="0" t="0" r="0" b="0"/>
            </a:stretch>
          </a:blipFill>
        </p:spPr>
      </p:sp>
      <p:sp>
        <p:nvSpPr>
          <p:cNvPr name="TextBox 6" id="6"/>
          <p:cNvSpPr txBox="true"/>
          <p:nvPr/>
        </p:nvSpPr>
        <p:spPr>
          <a:xfrm rot="0">
            <a:off x="984944" y="1703959"/>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3.1. Lưu đồ giải thuật </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11</a:t>
            </a:r>
          </a:p>
        </p:txBody>
      </p:sp>
      <p:sp>
        <p:nvSpPr>
          <p:cNvPr name="TextBox 8" id="8"/>
          <p:cNvSpPr txBox="true"/>
          <p:nvPr/>
        </p:nvSpPr>
        <p:spPr>
          <a:xfrm rot="0">
            <a:off x="1028700" y="9366474"/>
            <a:ext cx="4797633" cy="589373"/>
          </a:xfrm>
          <a:prstGeom prst="rect">
            <a:avLst/>
          </a:prstGeom>
        </p:spPr>
        <p:txBody>
          <a:bodyPr anchor="t" rtlCol="false" tIns="0" lIns="0" bIns="0" rIns="0">
            <a:spAutoFit/>
          </a:bodyPr>
          <a:lstStyle/>
          <a:p>
            <a:pPr algn="ctr">
              <a:lnSpc>
                <a:spcPts val="4805"/>
              </a:lnSpc>
            </a:pPr>
            <a:r>
              <a:rPr lang="en-US" sz="3432" b="true">
                <a:solidFill>
                  <a:srgbClr val="FFFFFF"/>
                </a:solidFill>
                <a:latin typeface="Noto Sans Bold"/>
                <a:ea typeface="Noto Sans Bold"/>
                <a:cs typeface="Noto Sans Bold"/>
                <a:sym typeface="Noto Sans Bold"/>
              </a:rPr>
              <a:t>Lưu đồ khoá cửa RFID</a:t>
            </a:r>
          </a:p>
        </p:txBody>
      </p:sp>
      <p:sp>
        <p:nvSpPr>
          <p:cNvPr name="TextBox 9" id="9"/>
          <p:cNvSpPr txBox="true"/>
          <p:nvPr/>
        </p:nvSpPr>
        <p:spPr>
          <a:xfrm rot="0">
            <a:off x="6416624" y="9366474"/>
            <a:ext cx="5377161" cy="589373"/>
          </a:xfrm>
          <a:prstGeom prst="rect">
            <a:avLst/>
          </a:prstGeom>
        </p:spPr>
        <p:txBody>
          <a:bodyPr anchor="t" rtlCol="false" tIns="0" lIns="0" bIns="0" rIns="0">
            <a:spAutoFit/>
          </a:bodyPr>
          <a:lstStyle/>
          <a:p>
            <a:pPr algn="ctr">
              <a:lnSpc>
                <a:spcPts val="4805"/>
              </a:lnSpc>
            </a:pPr>
            <a:r>
              <a:rPr lang="en-US" sz="3432" b="true">
                <a:solidFill>
                  <a:srgbClr val="FFFFFF"/>
                </a:solidFill>
                <a:latin typeface="Noto Sans Bold"/>
                <a:ea typeface="Noto Sans Bold"/>
                <a:cs typeface="Noto Sans Bold"/>
                <a:sym typeface="Noto Sans Bold"/>
              </a:rPr>
              <a:t>Lưu đồ hệ thống an ninh</a:t>
            </a:r>
          </a:p>
        </p:txBody>
      </p:sp>
      <p:sp>
        <p:nvSpPr>
          <p:cNvPr name="TextBox 10" id="10"/>
          <p:cNvSpPr txBox="true"/>
          <p:nvPr/>
        </p:nvSpPr>
        <p:spPr>
          <a:xfrm rot="0">
            <a:off x="12498704" y="9366474"/>
            <a:ext cx="4760596" cy="589373"/>
          </a:xfrm>
          <a:prstGeom prst="rect">
            <a:avLst/>
          </a:prstGeom>
        </p:spPr>
        <p:txBody>
          <a:bodyPr anchor="t" rtlCol="false" tIns="0" lIns="0" bIns="0" rIns="0">
            <a:spAutoFit/>
          </a:bodyPr>
          <a:lstStyle/>
          <a:p>
            <a:pPr algn="ctr">
              <a:lnSpc>
                <a:spcPts val="4805"/>
              </a:lnSpc>
            </a:pPr>
            <a:r>
              <a:rPr lang="en-US" sz="3432" b="true">
                <a:solidFill>
                  <a:srgbClr val="FFFFFF"/>
                </a:solidFill>
                <a:latin typeface="Noto Sans Bold"/>
                <a:ea typeface="Noto Sans Bold"/>
                <a:cs typeface="Noto Sans Bold"/>
                <a:sym typeface="Noto Sans Bold"/>
              </a:rPr>
              <a:t>Lưu đồ cảm biến mưa</a:t>
            </a:r>
          </a:p>
        </p:txBody>
      </p:sp>
      <p:sp>
        <p:nvSpPr>
          <p:cNvPr name="Freeform 11" id="11"/>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6"/>
            <a:stretch>
              <a:fillRect l="0" t="0" r="0" b="0"/>
            </a:stretch>
          </a:blipFill>
        </p:spPr>
      </p:sp>
      <p:sp>
        <p:nvSpPr>
          <p:cNvPr name="TextBox 12" id="12"/>
          <p:cNvSpPr txBox="true"/>
          <p:nvPr/>
        </p:nvSpPr>
        <p:spPr>
          <a:xfrm rot="0">
            <a:off x="5338911" y="933450"/>
            <a:ext cx="7610177"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XÂY DỰNG HỆ THỐNG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13322722" y="2856581"/>
            <a:ext cx="2463213" cy="6401719"/>
          </a:xfrm>
          <a:custGeom>
            <a:avLst/>
            <a:gdLst/>
            <a:ahLst/>
            <a:cxnLst/>
            <a:rect r="r" b="b" t="t" l="l"/>
            <a:pathLst>
              <a:path h="6401719" w="2463213">
                <a:moveTo>
                  <a:pt x="0" y="0"/>
                </a:moveTo>
                <a:lnTo>
                  <a:pt x="2463212" y="0"/>
                </a:lnTo>
                <a:lnTo>
                  <a:pt x="2463212" y="6401719"/>
                </a:lnTo>
                <a:lnTo>
                  <a:pt x="0" y="6401719"/>
                </a:lnTo>
                <a:lnTo>
                  <a:pt x="0" y="0"/>
                </a:lnTo>
                <a:close/>
              </a:path>
            </a:pathLst>
          </a:custGeom>
          <a:blipFill>
            <a:blip r:embed="rId3"/>
            <a:stretch>
              <a:fillRect l="0" t="-628" r="0" b="-628"/>
            </a:stretch>
          </a:blipFill>
        </p:spPr>
      </p:sp>
      <p:sp>
        <p:nvSpPr>
          <p:cNvPr name="TextBox 4" id="4"/>
          <p:cNvSpPr txBox="true"/>
          <p:nvPr/>
        </p:nvSpPr>
        <p:spPr>
          <a:xfrm rot="0">
            <a:off x="984944" y="1703959"/>
            <a:ext cx="8911532" cy="887476"/>
          </a:xfrm>
          <a:prstGeom prst="rect">
            <a:avLst/>
          </a:prstGeom>
        </p:spPr>
        <p:txBody>
          <a:bodyPr anchor="t" rtlCol="false" tIns="0" lIns="0" bIns="0" rIns="0">
            <a:spAutoFit/>
          </a:bodyPr>
          <a:lstStyle/>
          <a:p>
            <a:pPr algn="just">
              <a:lnSpc>
                <a:spcPts val="7696"/>
              </a:lnSpc>
            </a:pPr>
            <a:r>
              <a:rPr lang="en-US" sz="4299" b="true">
                <a:solidFill>
                  <a:srgbClr val="FFFFFF"/>
                </a:solidFill>
                <a:latin typeface="Noto Sans Bold"/>
                <a:ea typeface="Noto Sans Bold"/>
                <a:cs typeface="Noto Sans Bold"/>
                <a:sym typeface="Noto Sans Bold"/>
              </a:rPr>
              <a:t>3.1. Lưu đồ giải thuật </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12</a:t>
            </a:r>
          </a:p>
        </p:txBody>
      </p:sp>
      <p:sp>
        <p:nvSpPr>
          <p:cNvPr name="TextBox 6" id="6"/>
          <p:cNvSpPr txBox="true"/>
          <p:nvPr/>
        </p:nvSpPr>
        <p:spPr>
          <a:xfrm rot="0">
            <a:off x="12124174" y="9351962"/>
            <a:ext cx="4812740" cy="599864"/>
          </a:xfrm>
          <a:prstGeom prst="rect">
            <a:avLst/>
          </a:prstGeom>
        </p:spPr>
        <p:txBody>
          <a:bodyPr anchor="t" rtlCol="false" tIns="0" lIns="0" bIns="0" rIns="0">
            <a:spAutoFit/>
          </a:bodyPr>
          <a:lstStyle/>
          <a:p>
            <a:pPr algn="ctr">
              <a:lnSpc>
                <a:spcPts val="4989"/>
              </a:lnSpc>
            </a:pPr>
            <a:r>
              <a:rPr lang="en-US" sz="3563" b="true">
                <a:solidFill>
                  <a:srgbClr val="FFFFFF"/>
                </a:solidFill>
                <a:latin typeface="Noto Sans Bold"/>
                <a:ea typeface="Noto Sans Bold"/>
                <a:cs typeface="Noto Sans Bold"/>
                <a:sym typeface="Noto Sans Bold"/>
              </a:rPr>
              <a:t>Lưu đồ học thói quen</a:t>
            </a:r>
          </a:p>
        </p:txBody>
      </p:sp>
      <p:sp>
        <p:nvSpPr>
          <p:cNvPr name="TextBox 7" id="7"/>
          <p:cNvSpPr txBox="true"/>
          <p:nvPr/>
        </p:nvSpPr>
        <p:spPr>
          <a:xfrm rot="0">
            <a:off x="984944" y="2906186"/>
            <a:ext cx="12025563" cy="6710294"/>
          </a:xfrm>
          <a:prstGeom prst="rect">
            <a:avLst/>
          </a:prstGeom>
        </p:spPr>
        <p:txBody>
          <a:bodyPr anchor="t" rtlCol="false" tIns="0" lIns="0" bIns="0" rIns="0">
            <a:spAutoFit/>
          </a:bodyPr>
          <a:lstStyle/>
          <a:p>
            <a:pPr algn="l" marL="662633" indent="-331316" lvl="1">
              <a:lnSpc>
                <a:spcPts val="5371"/>
              </a:lnSpc>
              <a:buFont typeface="Arial"/>
              <a:buChar char="•"/>
            </a:pPr>
            <a:r>
              <a:rPr lang="en-US" b="true" sz="3069">
                <a:solidFill>
                  <a:srgbClr val="FFFFFF"/>
                </a:solidFill>
                <a:latin typeface="Noto Sans Bold"/>
                <a:ea typeface="Noto Sans Bold"/>
                <a:cs typeface="Noto Sans Bold"/>
                <a:sym typeface="Noto Sans Bold"/>
              </a:rPr>
              <a:t>Hệ thống sử dụng thuật toán K-Nearest Neighbors (KNN) để học từ dữ liệu nhiệt độ và thời gian thu thập trước đó.</a:t>
            </a:r>
          </a:p>
          <a:p>
            <a:pPr algn="l" marL="662633" indent="-331316" lvl="1">
              <a:lnSpc>
                <a:spcPts val="5371"/>
              </a:lnSpc>
              <a:buFont typeface="Arial"/>
              <a:buChar char="•"/>
            </a:pPr>
            <a:r>
              <a:rPr lang="en-US" b="true" sz="3069">
                <a:solidFill>
                  <a:srgbClr val="FFFFFF"/>
                </a:solidFill>
                <a:latin typeface="Noto Sans Bold"/>
                <a:ea typeface="Noto Sans Bold"/>
                <a:cs typeface="Noto Sans Bold"/>
                <a:sym typeface="Noto Sans Bold"/>
              </a:rPr>
              <a:t>Thuật toán </a:t>
            </a:r>
            <a:r>
              <a:rPr lang="en-US" b="true" sz="3069">
                <a:solidFill>
                  <a:srgbClr val="FFFFFF"/>
                </a:solidFill>
                <a:latin typeface="Noto Sans Bold"/>
                <a:ea typeface="Noto Sans Bold"/>
                <a:cs typeface="Noto Sans Bold"/>
                <a:sym typeface="Noto Sans Bold"/>
              </a:rPr>
              <a:t>được huấn luyện bằng cách sử dụng dữ liệu nhiệt độ và thời gian làm đầu vào. Sau đó sẽ tìm các mẫu dữ liệu gần nhất với dữ liệu hiện tại để xác định đề xuất phù hợp. </a:t>
            </a:r>
          </a:p>
          <a:p>
            <a:pPr algn="l" marL="662633" indent="-331316" lvl="1">
              <a:lnSpc>
                <a:spcPts val="5371"/>
              </a:lnSpc>
              <a:buFont typeface="Arial"/>
              <a:buChar char="•"/>
            </a:pPr>
            <a:r>
              <a:rPr lang="en-US" b="true" sz="3069">
                <a:solidFill>
                  <a:srgbClr val="FFFFFF"/>
                </a:solidFill>
                <a:latin typeface="Noto Sans Bold"/>
                <a:ea typeface="Noto Sans Bold"/>
                <a:cs typeface="Noto Sans Bold"/>
                <a:sym typeface="Noto Sans Bold"/>
              </a:rPr>
              <a:t>Sau khi dự đoán được thì chatbot sẽ đề xuất với người dùng trước khi thao tác điều khiển</a:t>
            </a:r>
          </a:p>
          <a:p>
            <a:pPr algn="l" marL="662633" indent="-331316" lvl="1">
              <a:lnSpc>
                <a:spcPts val="5371"/>
              </a:lnSpc>
              <a:buFont typeface="Arial"/>
              <a:buChar char="•"/>
            </a:pPr>
            <a:r>
              <a:rPr lang="en-US" b="true" sz="3069">
                <a:solidFill>
                  <a:srgbClr val="FFFFFF"/>
                </a:solidFill>
                <a:latin typeface="Noto Sans Bold"/>
                <a:ea typeface="Noto Sans Bold"/>
                <a:cs typeface="Noto Sans Bold"/>
                <a:sym typeface="Noto Sans Bold"/>
              </a:rPr>
              <a:t>Mọi dữ liệu khi trainning sẽ được lưu vào file excel để triển khai trên Raspberry pi</a:t>
            </a:r>
          </a:p>
        </p:txBody>
      </p:sp>
      <p:sp>
        <p:nvSpPr>
          <p:cNvPr name="Freeform 8" id="8"/>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4"/>
            <a:stretch>
              <a:fillRect l="0" t="0" r="0" b="0"/>
            </a:stretch>
          </a:blipFill>
        </p:spPr>
      </p:sp>
      <p:sp>
        <p:nvSpPr>
          <p:cNvPr name="TextBox 9" id="9"/>
          <p:cNvSpPr txBox="true"/>
          <p:nvPr/>
        </p:nvSpPr>
        <p:spPr>
          <a:xfrm rot="0">
            <a:off x="5338911" y="933450"/>
            <a:ext cx="7610177"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XÂY DỰNG HỆ THỐNG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10071347" y="3341297"/>
            <a:ext cx="6971558" cy="5228668"/>
          </a:xfrm>
          <a:custGeom>
            <a:avLst/>
            <a:gdLst/>
            <a:ahLst/>
            <a:cxnLst/>
            <a:rect r="r" b="b" t="t" l="l"/>
            <a:pathLst>
              <a:path h="5228668" w="6971558">
                <a:moveTo>
                  <a:pt x="0" y="0"/>
                </a:moveTo>
                <a:lnTo>
                  <a:pt x="6971558" y="0"/>
                </a:lnTo>
                <a:lnTo>
                  <a:pt x="6971558" y="5228669"/>
                </a:lnTo>
                <a:lnTo>
                  <a:pt x="0" y="5228669"/>
                </a:lnTo>
                <a:lnTo>
                  <a:pt x="0" y="0"/>
                </a:lnTo>
                <a:close/>
              </a:path>
            </a:pathLst>
          </a:custGeom>
          <a:blipFill>
            <a:blip r:embed="rId3"/>
            <a:stretch>
              <a:fillRect l="0" t="0" r="0" b="0"/>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13</a:t>
            </a:r>
          </a:p>
        </p:txBody>
      </p:sp>
      <p:sp>
        <p:nvSpPr>
          <p:cNvPr name="TextBox 5" id="5"/>
          <p:cNvSpPr txBox="true"/>
          <p:nvPr/>
        </p:nvSpPr>
        <p:spPr>
          <a:xfrm rot="0">
            <a:off x="5232164" y="933450"/>
            <a:ext cx="782367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KẾT QUẢ VÀ ĐÁNH GIÁ</a:t>
            </a:r>
          </a:p>
        </p:txBody>
      </p:sp>
      <p:sp>
        <p:nvSpPr>
          <p:cNvPr name="TextBox 6" id="6"/>
          <p:cNvSpPr txBox="true"/>
          <p:nvPr/>
        </p:nvSpPr>
        <p:spPr>
          <a:xfrm rot="0">
            <a:off x="1456581" y="2227992"/>
            <a:ext cx="3176290" cy="738505"/>
          </a:xfrm>
          <a:prstGeom prst="rect">
            <a:avLst/>
          </a:prstGeom>
        </p:spPr>
        <p:txBody>
          <a:bodyPr anchor="t" rtlCol="false" tIns="0" lIns="0" bIns="0" rIns="0">
            <a:spAutoFit/>
          </a:bodyPr>
          <a:lstStyle/>
          <a:p>
            <a:pPr algn="ctr">
              <a:lnSpc>
                <a:spcPts val="6019"/>
              </a:lnSpc>
            </a:pPr>
            <a:r>
              <a:rPr lang="en-US" sz="4299" b="true">
                <a:solidFill>
                  <a:srgbClr val="FFFFFF"/>
                </a:solidFill>
                <a:latin typeface="Noto Sans Bold"/>
                <a:ea typeface="Noto Sans Bold"/>
                <a:cs typeface="Noto Sans Bold"/>
                <a:sym typeface="Noto Sans Bold"/>
              </a:rPr>
              <a:t>4.1. Kết quả</a:t>
            </a:r>
          </a:p>
        </p:txBody>
      </p:sp>
      <p:sp>
        <p:nvSpPr>
          <p:cNvPr name="TextBox 7" id="7"/>
          <p:cNvSpPr txBox="true"/>
          <p:nvPr/>
        </p:nvSpPr>
        <p:spPr>
          <a:xfrm rot="0">
            <a:off x="1170099" y="3160322"/>
            <a:ext cx="8901248" cy="6399602"/>
          </a:xfrm>
          <a:prstGeom prst="rect">
            <a:avLst/>
          </a:prstGeom>
        </p:spPr>
        <p:txBody>
          <a:bodyPr anchor="t" rtlCol="false" tIns="0" lIns="0" bIns="0" rIns="0">
            <a:spAutoFit/>
          </a:bodyPr>
          <a:lstStyle/>
          <a:p>
            <a:pPr algn="l" marL="685509" indent="-342754" lvl="1">
              <a:lnSpc>
                <a:spcPts val="5683"/>
              </a:lnSpc>
              <a:buFont typeface="Arial"/>
              <a:buChar char="•"/>
            </a:pPr>
            <a:r>
              <a:rPr lang="en-US" b="true" sz="3175">
                <a:solidFill>
                  <a:srgbClr val="FFFFFF"/>
                </a:solidFill>
                <a:latin typeface="Noto Sans Bold"/>
                <a:ea typeface="Noto Sans Bold"/>
                <a:cs typeface="Noto Sans Bold"/>
                <a:sym typeface="Noto Sans Bold"/>
              </a:rPr>
              <a:t>Hoàn thành mục tiêu đề ra</a:t>
            </a:r>
          </a:p>
          <a:p>
            <a:pPr algn="l" marL="685509" indent="-342754" lvl="1">
              <a:lnSpc>
                <a:spcPts val="5683"/>
              </a:lnSpc>
              <a:buFont typeface="Arial"/>
              <a:buChar char="•"/>
            </a:pPr>
            <a:r>
              <a:rPr lang="en-US" b="true" sz="3175">
                <a:solidFill>
                  <a:srgbClr val="FFFFFF"/>
                </a:solidFill>
                <a:latin typeface="Noto Sans Bold"/>
                <a:ea typeface="Noto Sans Bold"/>
                <a:cs typeface="Noto Sans Bold"/>
                <a:sym typeface="Noto Sans Bold"/>
              </a:rPr>
              <a:t>Xây dựng thành công hệ thống Smart Home AI</a:t>
            </a:r>
          </a:p>
          <a:p>
            <a:pPr algn="l" marL="685509" indent="-342754" lvl="1">
              <a:lnSpc>
                <a:spcPts val="5683"/>
              </a:lnSpc>
              <a:buFont typeface="Arial"/>
              <a:buChar char="•"/>
            </a:pPr>
            <a:r>
              <a:rPr lang="en-US" b="true" sz="3175">
                <a:solidFill>
                  <a:srgbClr val="FFFFFF"/>
                </a:solidFill>
                <a:latin typeface="Noto Sans Bold"/>
                <a:ea typeface="Noto Sans Bold"/>
                <a:cs typeface="Noto Sans Bold"/>
                <a:sym typeface="Noto Sans Bold"/>
              </a:rPr>
              <a:t>Điều khiển và giám sát từ xa hiệu quả</a:t>
            </a:r>
          </a:p>
          <a:p>
            <a:pPr algn="l" marL="685509" indent="-342754" lvl="1">
              <a:lnSpc>
                <a:spcPts val="5683"/>
              </a:lnSpc>
              <a:buFont typeface="Arial"/>
              <a:buChar char="•"/>
            </a:pPr>
            <a:r>
              <a:rPr lang="en-US" b="true" sz="3175">
                <a:solidFill>
                  <a:srgbClr val="FFFFFF"/>
                </a:solidFill>
                <a:latin typeface="Noto Sans Bold"/>
                <a:ea typeface="Noto Sans Bold"/>
                <a:cs typeface="Noto Sans Bold"/>
                <a:sym typeface="Noto Sans Bold"/>
              </a:rPr>
              <a:t>Thông báo gửi lên Telegram nhanh chóng, chính xác </a:t>
            </a:r>
          </a:p>
          <a:p>
            <a:pPr algn="l" marL="685509" indent="-342754" lvl="1">
              <a:lnSpc>
                <a:spcPts val="5683"/>
              </a:lnSpc>
              <a:buFont typeface="Arial"/>
              <a:buChar char="•"/>
            </a:pPr>
            <a:r>
              <a:rPr lang="en-US" b="true" sz="3175">
                <a:solidFill>
                  <a:srgbClr val="FFFFFF"/>
                </a:solidFill>
                <a:latin typeface="Noto Sans Bold"/>
                <a:ea typeface="Noto Sans Bold"/>
                <a:cs typeface="Noto Sans Bold"/>
                <a:sym typeface="Noto Sans Bold"/>
              </a:rPr>
              <a:t>Chế độ học thói quen từ người dùng sự dụng thuật toán KNN hoạt động chính xác.</a:t>
            </a:r>
          </a:p>
        </p:txBody>
      </p:sp>
      <p:sp>
        <p:nvSpPr>
          <p:cNvPr name="Freeform 8" id="8"/>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14</a:t>
            </a:r>
          </a:p>
        </p:txBody>
      </p:sp>
      <p:sp>
        <p:nvSpPr>
          <p:cNvPr name="TextBox 4" id="4"/>
          <p:cNvSpPr txBox="true"/>
          <p:nvPr/>
        </p:nvSpPr>
        <p:spPr>
          <a:xfrm rot="0">
            <a:off x="1287959" y="2227992"/>
            <a:ext cx="3513534" cy="738505"/>
          </a:xfrm>
          <a:prstGeom prst="rect">
            <a:avLst/>
          </a:prstGeom>
        </p:spPr>
        <p:txBody>
          <a:bodyPr anchor="t" rtlCol="false" tIns="0" lIns="0" bIns="0" rIns="0">
            <a:spAutoFit/>
          </a:bodyPr>
          <a:lstStyle/>
          <a:p>
            <a:pPr algn="ctr">
              <a:lnSpc>
                <a:spcPts val="6019"/>
              </a:lnSpc>
            </a:pPr>
            <a:r>
              <a:rPr lang="en-US" sz="4299" b="true">
                <a:solidFill>
                  <a:srgbClr val="FFFFFF"/>
                </a:solidFill>
                <a:latin typeface="Noto Sans Bold"/>
                <a:ea typeface="Noto Sans Bold"/>
                <a:cs typeface="Noto Sans Bold"/>
                <a:sym typeface="Noto Sans Bold"/>
              </a:rPr>
              <a:t>4.2. Đánh giá</a:t>
            </a:r>
          </a:p>
        </p:txBody>
      </p:sp>
      <p:sp>
        <p:nvSpPr>
          <p:cNvPr name="TextBox 5" id="5"/>
          <p:cNvSpPr txBox="true"/>
          <p:nvPr/>
        </p:nvSpPr>
        <p:spPr>
          <a:xfrm rot="0">
            <a:off x="1287959" y="3205625"/>
            <a:ext cx="7856041" cy="6636639"/>
          </a:xfrm>
          <a:prstGeom prst="rect">
            <a:avLst/>
          </a:prstGeom>
        </p:spPr>
        <p:txBody>
          <a:bodyPr anchor="t" rtlCol="false" tIns="0" lIns="0" bIns="0" rIns="0">
            <a:spAutoFit/>
          </a:bodyPr>
          <a:lstStyle/>
          <a:p>
            <a:pPr algn="l">
              <a:lnSpc>
                <a:spcPts val="5882"/>
              </a:lnSpc>
            </a:pPr>
            <a:r>
              <a:rPr lang="en-US" sz="3699" spc="233" b="true">
                <a:solidFill>
                  <a:srgbClr val="FFFFFF"/>
                </a:solidFill>
                <a:latin typeface="Noto Sans Bold"/>
                <a:ea typeface="Noto Sans Bold"/>
                <a:cs typeface="Noto Sans Bold"/>
                <a:sym typeface="Noto Sans Bold"/>
              </a:rPr>
              <a:t>Ưu điểm:</a:t>
            </a:r>
          </a:p>
          <a:p>
            <a:pPr algn="l" marL="798829" indent="-399415" lvl="1">
              <a:lnSpc>
                <a:spcPts val="5882"/>
              </a:lnSpc>
              <a:buFont typeface="Arial"/>
              <a:buChar char="•"/>
            </a:pPr>
            <a:r>
              <a:rPr lang="en-US" b="true" sz="3699" spc="233">
                <a:solidFill>
                  <a:srgbClr val="FFFFFF"/>
                </a:solidFill>
                <a:latin typeface="Noto Sans Bold"/>
                <a:ea typeface="Noto Sans Bold"/>
                <a:cs typeface="Noto Sans Bold"/>
                <a:sym typeface="Noto Sans Bold"/>
              </a:rPr>
              <a:t>Điều khiển thiết bị bằng giọng nói</a:t>
            </a:r>
          </a:p>
          <a:p>
            <a:pPr algn="l" marL="798829" indent="-399415" lvl="1">
              <a:lnSpc>
                <a:spcPts val="5882"/>
              </a:lnSpc>
              <a:buFont typeface="Arial"/>
              <a:buChar char="•"/>
            </a:pPr>
            <a:r>
              <a:rPr lang="en-US" b="true" sz="3699" spc="233">
                <a:solidFill>
                  <a:srgbClr val="FFFFFF"/>
                </a:solidFill>
                <a:latin typeface="Noto Sans Bold"/>
                <a:ea typeface="Noto Sans Bold"/>
                <a:cs typeface="Noto Sans Bold"/>
                <a:sym typeface="Noto Sans Bold"/>
              </a:rPr>
              <a:t>AI hiểu tiếng Việt</a:t>
            </a:r>
          </a:p>
          <a:p>
            <a:pPr algn="l" marL="798829" indent="-399415" lvl="1">
              <a:lnSpc>
                <a:spcPts val="5882"/>
              </a:lnSpc>
              <a:buFont typeface="Arial"/>
              <a:buChar char="•"/>
            </a:pPr>
            <a:r>
              <a:rPr lang="en-US" b="true" sz="3699" spc="233">
                <a:solidFill>
                  <a:srgbClr val="FFFFFF"/>
                </a:solidFill>
                <a:latin typeface="Noto Sans Bold"/>
                <a:ea typeface="Noto Sans Bold"/>
                <a:cs typeface="Noto Sans Bold"/>
                <a:sym typeface="Noto Sans Bold"/>
              </a:rPr>
              <a:t>Giám sát từ xa</a:t>
            </a:r>
          </a:p>
          <a:p>
            <a:pPr algn="l" marL="798829" indent="-399415" lvl="1">
              <a:lnSpc>
                <a:spcPts val="5882"/>
              </a:lnSpc>
              <a:buFont typeface="Arial"/>
              <a:buChar char="•"/>
            </a:pPr>
            <a:r>
              <a:rPr lang="en-US" b="true" sz="3699" spc="233">
                <a:solidFill>
                  <a:srgbClr val="FFFFFF"/>
                </a:solidFill>
                <a:latin typeface="Noto Sans Bold"/>
                <a:ea typeface="Noto Sans Bold"/>
                <a:cs typeface="Noto Sans Bold"/>
                <a:sym typeface="Noto Sans Bold"/>
              </a:rPr>
              <a:t>Giao diện thân thiện</a:t>
            </a:r>
          </a:p>
          <a:p>
            <a:pPr algn="l" marL="798829" indent="-399415" lvl="1">
              <a:lnSpc>
                <a:spcPts val="5882"/>
              </a:lnSpc>
              <a:buFont typeface="Arial"/>
              <a:buChar char="•"/>
            </a:pPr>
            <a:r>
              <a:rPr lang="en-US" b="true" sz="3699" spc="233">
                <a:solidFill>
                  <a:srgbClr val="FFFFFF"/>
                </a:solidFill>
                <a:latin typeface="Noto Sans Bold"/>
                <a:ea typeface="Noto Sans Bold"/>
                <a:cs typeface="Noto Sans Bold"/>
                <a:sym typeface="Noto Sans Bold"/>
              </a:rPr>
              <a:t>Điều khiển tự động theo thói quen</a:t>
            </a:r>
          </a:p>
          <a:p>
            <a:pPr algn="l">
              <a:lnSpc>
                <a:spcPts val="5882"/>
              </a:lnSpc>
            </a:pPr>
          </a:p>
        </p:txBody>
      </p:sp>
      <p:sp>
        <p:nvSpPr>
          <p:cNvPr name="TextBox 6" id="6"/>
          <p:cNvSpPr txBox="true"/>
          <p:nvPr/>
        </p:nvSpPr>
        <p:spPr>
          <a:xfrm rot="0">
            <a:off x="9711967" y="3129425"/>
            <a:ext cx="7837845" cy="4961509"/>
          </a:xfrm>
          <a:prstGeom prst="rect">
            <a:avLst/>
          </a:prstGeom>
        </p:spPr>
        <p:txBody>
          <a:bodyPr anchor="t" rtlCol="false" tIns="0" lIns="0" bIns="0" rIns="0">
            <a:spAutoFit/>
          </a:bodyPr>
          <a:lstStyle/>
          <a:p>
            <a:pPr algn="l">
              <a:lnSpc>
                <a:spcPts val="6622"/>
              </a:lnSpc>
            </a:pPr>
            <a:r>
              <a:rPr lang="en-US" b="true" sz="3699">
                <a:solidFill>
                  <a:srgbClr val="FFFFFF"/>
                </a:solidFill>
                <a:latin typeface="Noto Sans Bold"/>
                <a:ea typeface="Noto Sans Bold"/>
                <a:cs typeface="Noto Sans Bold"/>
                <a:sym typeface="Noto Sans Bold"/>
              </a:rPr>
              <a:t>Hạn chế:</a:t>
            </a:r>
          </a:p>
          <a:p>
            <a:pPr algn="l" marL="798829" indent="-399415" lvl="1">
              <a:lnSpc>
                <a:spcPts val="6622"/>
              </a:lnSpc>
              <a:buFont typeface="Arial"/>
              <a:buChar char="•"/>
            </a:pPr>
            <a:r>
              <a:rPr lang="en-US" b="true" sz="3699">
                <a:solidFill>
                  <a:srgbClr val="FFFFFF"/>
                </a:solidFill>
                <a:latin typeface="Noto Sans Bold"/>
                <a:ea typeface="Noto Sans Bold"/>
                <a:cs typeface="Noto Sans Bold"/>
                <a:sym typeface="Noto Sans Bold"/>
              </a:rPr>
              <a:t>Phụ thuộc Internet</a:t>
            </a:r>
          </a:p>
          <a:p>
            <a:pPr algn="l" marL="798829" indent="-399415" lvl="1">
              <a:lnSpc>
                <a:spcPts val="6622"/>
              </a:lnSpc>
              <a:buFont typeface="Arial"/>
              <a:buChar char="•"/>
            </a:pPr>
            <a:r>
              <a:rPr lang="en-US" b="true" sz="3699">
                <a:solidFill>
                  <a:srgbClr val="FFFFFF"/>
                </a:solidFill>
                <a:latin typeface="Noto Sans Bold"/>
                <a:ea typeface="Noto Sans Bold"/>
                <a:cs typeface="Noto Sans Bold"/>
                <a:sym typeface="Noto Sans Bold"/>
              </a:rPr>
              <a:t>AI phản hồi còn độ trễ</a:t>
            </a:r>
          </a:p>
          <a:p>
            <a:pPr algn="l" marL="798829" indent="-399415" lvl="1">
              <a:lnSpc>
                <a:spcPts val="6622"/>
              </a:lnSpc>
              <a:buFont typeface="Arial"/>
              <a:buChar char="•"/>
            </a:pPr>
            <a:r>
              <a:rPr lang="en-US" b="true" sz="3699">
                <a:solidFill>
                  <a:srgbClr val="FFFFFF"/>
                </a:solidFill>
                <a:latin typeface="Noto Sans Bold"/>
                <a:ea typeface="Noto Sans Bold"/>
                <a:cs typeface="Noto Sans Bold"/>
                <a:sym typeface="Noto Sans Bold"/>
              </a:rPr>
              <a:t>Chưa có hệ thống cấp phát điện dự phòng </a:t>
            </a:r>
          </a:p>
          <a:p>
            <a:pPr algn="l" marL="798829" indent="-399415" lvl="1">
              <a:lnSpc>
                <a:spcPts val="6622"/>
              </a:lnSpc>
              <a:buFont typeface="Arial"/>
              <a:buChar char="•"/>
            </a:pPr>
            <a:r>
              <a:rPr lang="en-US" b="true" sz="3699">
                <a:solidFill>
                  <a:srgbClr val="FFFFFF"/>
                </a:solidFill>
                <a:latin typeface="Noto Sans Bold"/>
                <a:ea typeface="Noto Sans Bold"/>
                <a:cs typeface="Noto Sans Bold"/>
                <a:sym typeface="Noto Sans Bold"/>
              </a:rPr>
              <a:t>App chưa chạy được trên IOS</a:t>
            </a:r>
          </a:p>
        </p:txBody>
      </p:sp>
      <p:sp>
        <p:nvSpPr>
          <p:cNvPr name="Freeform 7" id="7"/>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3"/>
            <a:stretch>
              <a:fillRect l="0" t="0" r="0" b="0"/>
            </a:stretch>
          </a:blipFill>
        </p:spPr>
      </p:sp>
      <p:sp>
        <p:nvSpPr>
          <p:cNvPr name="TextBox 8" id="8"/>
          <p:cNvSpPr txBox="true"/>
          <p:nvPr/>
        </p:nvSpPr>
        <p:spPr>
          <a:xfrm rot="0">
            <a:off x="5232164" y="933450"/>
            <a:ext cx="782367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KẾT QUẢ VÀ ĐÁNH GIÁ</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15</a:t>
            </a:r>
          </a:p>
        </p:txBody>
      </p:sp>
      <p:sp>
        <p:nvSpPr>
          <p:cNvPr name="TextBox 4" id="4"/>
          <p:cNvSpPr txBox="true"/>
          <p:nvPr/>
        </p:nvSpPr>
        <p:spPr>
          <a:xfrm rot="0">
            <a:off x="1287959" y="2227992"/>
            <a:ext cx="5874097" cy="738505"/>
          </a:xfrm>
          <a:prstGeom prst="rect">
            <a:avLst/>
          </a:prstGeom>
        </p:spPr>
        <p:txBody>
          <a:bodyPr anchor="t" rtlCol="false" tIns="0" lIns="0" bIns="0" rIns="0">
            <a:spAutoFit/>
          </a:bodyPr>
          <a:lstStyle/>
          <a:p>
            <a:pPr algn="ctr">
              <a:lnSpc>
                <a:spcPts val="6019"/>
              </a:lnSpc>
            </a:pPr>
            <a:r>
              <a:rPr lang="en-US" sz="4299" b="true">
                <a:solidFill>
                  <a:srgbClr val="FFFFFF"/>
                </a:solidFill>
                <a:latin typeface="Noto Sans Bold"/>
                <a:ea typeface="Noto Sans Bold"/>
                <a:cs typeface="Noto Sans Bold"/>
                <a:sym typeface="Noto Sans Bold"/>
              </a:rPr>
              <a:t>4.3. Hướng phát triển</a:t>
            </a:r>
          </a:p>
        </p:txBody>
      </p:sp>
      <p:sp>
        <p:nvSpPr>
          <p:cNvPr name="TextBox 5" id="5"/>
          <p:cNvSpPr txBox="true"/>
          <p:nvPr/>
        </p:nvSpPr>
        <p:spPr>
          <a:xfrm rot="0">
            <a:off x="1012701" y="3284588"/>
            <a:ext cx="12298635" cy="5066538"/>
          </a:xfrm>
          <a:prstGeom prst="rect">
            <a:avLst/>
          </a:prstGeom>
        </p:spPr>
        <p:txBody>
          <a:bodyPr anchor="t" rtlCol="false" tIns="0" lIns="0" bIns="0" rIns="0">
            <a:spAutoFit/>
          </a:bodyPr>
          <a:lstStyle/>
          <a:p>
            <a:pPr algn="l" marL="798829" indent="-399415" lvl="1">
              <a:lnSpc>
                <a:spcPts val="6770"/>
              </a:lnSpc>
              <a:buFont typeface="Arial"/>
              <a:buChar char="•"/>
            </a:pPr>
            <a:r>
              <a:rPr lang="en-US" b="true" sz="3699">
                <a:solidFill>
                  <a:srgbClr val="FFFFFF"/>
                </a:solidFill>
                <a:latin typeface="Noto Sans Bold"/>
                <a:ea typeface="Noto Sans Bold"/>
                <a:cs typeface="Noto Sans Bold"/>
                <a:sym typeface="Noto Sans Bold"/>
              </a:rPr>
              <a:t>Nhận diện khuôn mặt</a:t>
            </a:r>
          </a:p>
          <a:p>
            <a:pPr algn="l" marL="798829" indent="-399415" lvl="1">
              <a:lnSpc>
                <a:spcPts val="6770"/>
              </a:lnSpc>
              <a:buFont typeface="Arial"/>
              <a:buChar char="•"/>
            </a:pPr>
            <a:r>
              <a:rPr lang="en-US" b="true" sz="3699">
                <a:solidFill>
                  <a:srgbClr val="FFFFFF"/>
                </a:solidFill>
                <a:latin typeface="Noto Sans Bold"/>
                <a:ea typeface="Noto Sans Bold"/>
                <a:cs typeface="Noto Sans Bold"/>
                <a:sym typeface="Noto Sans Bold"/>
              </a:rPr>
              <a:t>Camera AI</a:t>
            </a:r>
          </a:p>
          <a:p>
            <a:pPr algn="l" marL="798829" indent="-399415" lvl="1">
              <a:lnSpc>
                <a:spcPts val="6770"/>
              </a:lnSpc>
              <a:buFont typeface="Arial"/>
              <a:buChar char="•"/>
            </a:pPr>
            <a:r>
              <a:rPr lang="en-US" b="true" sz="3699">
                <a:solidFill>
                  <a:srgbClr val="FFFFFF"/>
                </a:solidFill>
                <a:latin typeface="Noto Sans Bold"/>
                <a:ea typeface="Noto Sans Bold"/>
                <a:cs typeface="Noto Sans Bold"/>
                <a:sym typeface="Noto Sans Bold"/>
              </a:rPr>
              <a:t>Triển khai App chạy trên IOS</a:t>
            </a:r>
          </a:p>
          <a:p>
            <a:pPr algn="l" marL="798829" indent="-399415" lvl="1">
              <a:lnSpc>
                <a:spcPts val="6770"/>
              </a:lnSpc>
              <a:buFont typeface="Arial"/>
              <a:buChar char="•"/>
            </a:pPr>
            <a:r>
              <a:rPr lang="en-US" b="true" sz="3699">
                <a:solidFill>
                  <a:srgbClr val="FFFFFF"/>
                </a:solidFill>
                <a:latin typeface="Noto Sans Bold"/>
                <a:ea typeface="Noto Sans Bold"/>
                <a:cs typeface="Noto Sans Bold"/>
                <a:sym typeface="Noto Sans Bold"/>
              </a:rPr>
              <a:t>Tích hợp nhiều thiết bị hơn</a:t>
            </a:r>
          </a:p>
          <a:p>
            <a:pPr algn="l" marL="798829" indent="-399415" lvl="1">
              <a:lnSpc>
                <a:spcPts val="6770"/>
              </a:lnSpc>
              <a:buFont typeface="Arial"/>
              <a:buChar char="•"/>
            </a:pPr>
            <a:r>
              <a:rPr lang="en-US" b="true" sz="3699">
                <a:solidFill>
                  <a:srgbClr val="FFFFFF"/>
                </a:solidFill>
                <a:latin typeface="Noto Sans Bold"/>
                <a:ea typeface="Noto Sans Bold"/>
                <a:cs typeface="Noto Sans Bold"/>
                <a:sym typeface="Noto Sans Bold"/>
              </a:rPr>
              <a:t>Màn hình điều khiển cảm ứng lắp ở phòng khách</a:t>
            </a:r>
          </a:p>
          <a:p>
            <a:pPr algn="l" marL="798829" indent="-399415" lvl="1">
              <a:lnSpc>
                <a:spcPts val="6770"/>
              </a:lnSpc>
              <a:buFont typeface="Arial"/>
              <a:buChar char="•"/>
            </a:pPr>
            <a:r>
              <a:rPr lang="en-US" b="true" sz="3699">
                <a:solidFill>
                  <a:srgbClr val="FFFFFF"/>
                </a:solidFill>
                <a:latin typeface="Noto Sans Bold"/>
                <a:ea typeface="Noto Sans Bold"/>
                <a:cs typeface="Noto Sans Bold"/>
                <a:sym typeface="Noto Sans Bold"/>
              </a:rPr>
              <a:t>Xây dựng chatbot khi không có internet</a:t>
            </a:r>
          </a:p>
        </p:txBody>
      </p:sp>
      <p:sp>
        <p:nvSpPr>
          <p:cNvPr name="Freeform 6" id="6"/>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3"/>
            <a:stretch>
              <a:fillRect l="0" t="0" r="0" b="0"/>
            </a:stretch>
          </a:blipFill>
        </p:spPr>
      </p:sp>
      <p:sp>
        <p:nvSpPr>
          <p:cNvPr name="TextBox 7" id="7"/>
          <p:cNvSpPr txBox="true"/>
          <p:nvPr/>
        </p:nvSpPr>
        <p:spPr>
          <a:xfrm rot="0">
            <a:off x="5232164" y="933450"/>
            <a:ext cx="7823671" cy="927100"/>
          </a:xfrm>
          <a:prstGeom prst="rect">
            <a:avLst/>
          </a:prstGeom>
        </p:spPr>
        <p:txBody>
          <a:bodyPr anchor="t" rtlCol="false" tIns="0" lIns="0" bIns="0" rIns="0">
            <a:spAutoFit/>
          </a:bodyPr>
          <a:lstStyle/>
          <a:p>
            <a:pPr algn="l">
              <a:lnSpc>
                <a:spcPts val="7699"/>
              </a:lnSpc>
            </a:pPr>
            <a:r>
              <a:rPr lang="en-US" b="true" sz="5499">
                <a:solidFill>
                  <a:srgbClr val="FFFFFF"/>
                </a:solidFill>
                <a:latin typeface="Noto Sans Bold"/>
                <a:ea typeface="Noto Sans Bold"/>
                <a:cs typeface="Noto Sans Bold"/>
                <a:sym typeface="Noto Sans Bold"/>
              </a:rPr>
              <a:t>KẾT QUẢ VÀ ĐÁNH GIÁ</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16</a:t>
            </a:r>
          </a:p>
        </p:txBody>
      </p:sp>
      <p:sp>
        <p:nvSpPr>
          <p:cNvPr name="TextBox 4" id="4"/>
          <p:cNvSpPr txBox="true"/>
          <p:nvPr/>
        </p:nvSpPr>
        <p:spPr>
          <a:xfrm rot="0">
            <a:off x="1267744" y="3586047"/>
            <a:ext cx="15991556" cy="2952981"/>
          </a:xfrm>
          <a:prstGeom prst="rect">
            <a:avLst/>
          </a:prstGeom>
        </p:spPr>
        <p:txBody>
          <a:bodyPr anchor="t" rtlCol="false" tIns="0" lIns="0" bIns="0" rIns="0">
            <a:spAutoFit/>
          </a:bodyPr>
          <a:lstStyle/>
          <a:p>
            <a:pPr algn="ctr">
              <a:lnSpc>
                <a:spcPts val="11888"/>
              </a:lnSpc>
            </a:pPr>
            <a:r>
              <a:rPr lang="en-US" sz="8491" b="true">
                <a:solidFill>
                  <a:srgbClr val="FFFFFF"/>
                </a:solidFill>
                <a:latin typeface="Noto Sans Bold"/>
                <a:ea typeface="Noto Sans Bold"/>
                <a:cs typeface="Noto Sans Bold"/>
                <a:sym typeface="Noto Sans Bold"/>
              </a:rPr>
              <a:t>XIN CẢM ƠN CÁC THẦY CÔ ĐÃ LẮNG NGHE !</a:t>
            </a:r>
          </a:p>
        </p:txBody>
      </p:sp>
      <p:sp>
        <p:nvSpPr>
          <p:cNvPr name="Freeform 5" id="5"/>
          <p:cNvSpPr/>
          <p:nvPr/>
        </p:nvSpPr>
        <p:spPr>
          <a:xfrm flipH="false" flipV="false" rot="0">
            <a:off x="411482" y="354789"/>
            <a:ext cx="3343413" cy="952873"/>
          </a:xfrm>
          <a:custGeom>
            <a:avLst/>
            <a:gdLst/>
            <a:ahLst/>
            <a:cxnLst/>
            <a:rect r="r" b="b" t="t" l="l"/>
            <a:pathLst>
              <a:path h="952873" w="3343413">
                <a:moveTo>
                  <a:pt x="0" y="0"/>
                </a:moveTo>
                <a:lnTo>
                  <a:pt x="3343414" y="0"/>
                </a:lnTo>
                <a:lnTo>
                  <a:pt x="3343414" y="952873"/>
                </a:lnTo>
                <a:lnTo>
                  <a:pt x="0" y="952873"/>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DAHLEGO1sXg</dc:identifier>
  <dcterms:modified xsi:type="dcterms:W3CDTF">2011-08-01T06:04:30Z</dcterms:modified>
  <cp:revision>1</cp:revision>
  <dc:title>BÁO CÁO ĐỒ ÁN TỐT NGHIỆP</dc:title>
</cp:coreProperties>
</file>